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91" r:id="rId5"/>
    <p:sldId id="259" r:id="rId6"/>
    <p:sldId id="260" r:id="rId7"/>
    <p:sldId id="292" r:id="rId8"/>
    <p:sldId id="293" r:id="rId9"/>
    <p:sldId id="261" r:id="rId10"/>
    <p:sldId id="294" r:id="rId11"/>
    <p:sldId id="280" r:id="rId12"/>
    <p:sldId id="281" r:id="rId13"/>
    <p:sldId id="282" r:id="rId14"/>
    <p:sldId id="283" r:id="rId15"/>
    <p:sldId id="288" r:id="rId16"/>
    <p:sldId id="284" r:id="rId17"/>
    <p:sldId id="285" r:id="rId18"/>
    <p:sldId id="286" r:id="rId19"/>
    <p:sldId id="287" r:id="rId20"/>
    <p:sldId id="262" r:id="rId21"/>
    <p:sldId id="289" r:id="rId22"/>
    <p:sldId id="263" r:id="rId23"/>
    <p:sldId id="264" r:id="rId24"/>
    <p:sldId id="265" r:id="rId25"/>
    <p:sldId id="295" r:id="rId26"/>
    <p:sldId id="290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96" r:id="rId41"/>
    <p:sldId id="297" r:id="rId42"/>
    <p:sldId id="298" r:id="rId49"/>
    <p:sldId id="299" r:id="rId50"/>
    <p:sldId id="300" r:id="rId51"/>
    <p:sldId id="301" r:id="rId52"/>
    <p:sldId id="302" r:id="rId53"/>
    <p:sldId id="303" r:id="rId54"/>
    <p:sldId id="279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/>
    <p:restoredTop sz="82107"/>
  </p:normalViewPr>
  <p:slideViewPr>
    <p:cSldViewPr snapToGrid="0" snapToObjects="1">
      <p:cViewPr varScale="1">
        <p:scale>
          <a:sx n="97" d="100"/>
          <a:sy n="97" d="100"/>
        </p:scale>
        <p:origin x="1096" y="200"/>
      </p:cViewPr>
      <p:guideLst/>
    </p:cSldViewPr>
  </p:slideViewPr>
  <p:notesTextViewPr>
    <p:cViewPr>
      <p:scale>
        <a:sx n="145" d="100"/>
        <a:sy n="14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354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Relationship Id="rId3" Type="http://schemas.openxmlformats.org/officeDocument/2006/relationships/hyperlink" Target="https://www.ibm.com/links?url=https%3A%2F%2Fcode.visualstudio.com%2Fdocs%2Feditor%2Fdebugging%23_launch-configurations" TargetMode="External"/><Relationship Id="rId4" Type="http://schemas.openxmlformats.org/officeDocument/2006/relationships/hyperlink" Target="https://www.ibm.com/docs/en/SSCH39_1.0.0/com.ibm.open.debug.doc/topics/opendebug_launch.json_attach.html" TargetMode="External"/><Relationship Id="rId5" Type="http://schemas.openxmlformats.org/officeDocument/2006/relationships/hyperlink" Target="https://www.ibm.com/docs/en/SSCH39_1.0.0/com.ibm.open.debug.doc/topics/opendebug_launch.json_launch.html" TargetMode="Externa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開場：今天分享的主題是如何在 VS Code 上，透過 IBM Z Open Debug 對一支 PL/I 批次程式（AZARLN.#TEST.PLI(TEST)）進行遠端除錯。內容會涵蓋環境架構、JCL／程式碼要怎麼改、中文亂碼怎麼解、以及中斷點、條件中斷點、記錄點、監看運算式等除錯技巧的實機操作，最後也會分享這幾天踩過的坑與跟 IBM Support 溝通的進度，讓大家之後遇到同樣狀況可以少走彎路。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議程總覽，七大段落。前半段（1-5）著重在環境建置：程式在做什麼、架構怎麼串、程式碼與 JCL 怎麼改、要新增哪些資料集與 member、以及中文亂碼怎麼解。後半段（6-7）著重在實機操作：怎麼下中斷點、條件中斷點、記錄點，F5 續行跟 F10/F11 逐步執行的差異，還有怎麼在左側面板看變數、設定監看運算式。最後會分享目前還沒解決的問題（記錄點不支援）跟已經跟 IBM Support 溝通的進度，讓大家知道哪些是已知限制、不用再花時間重複排查。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這支程式的用途是產生「電子郵件退件或資料缺漏」的報表。主流程：開檔、算日期、逐筆讀取保單資料（CIFREJ3），依局號分組換頁、依股別代號填標頭，滿 48 行就自動換頁，每筆資料都會寫一行明細到 FDATAO，讀到檔尾（ON ENDFILE 觸發 GWK_FDATAI_EOF='Y'）迴圈才結束。等一下 demo 中斷點的時候，264、268、352 這幾行會因為在迴圈內而重複命中，這是正常現象，不是 bug——命中次數等於資料筆數。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前置需求分主機端跟用戶端。主機端要確認 EQARMTD、EQAPROF 這兩個 STC 都在啟動中，可以在 SDSF 下 PREFIX EQA* 一次看到兩者狀態；要確認 IFAPRD PARMLIB 已經啟用 IBM Debug for z 或 IDz EE 這個產品項目，沒啟用的話整個除錯功能都不會生效；程式庫跟 COPY book 一般 APF 權限就夠，不需要額外特殊授權。用戶端要裝好 Zowe Explorer 跟 IBM Z Open Debug 兩個擴充套件，並且在 zowe.config.json 裡設定一個 type 是 zOpenDebug 的 profile，右圖的截圖就是實際設定畫面跟對應的 JSON 片段，host 填主機 IP、dpsPort 固定填 DPS 監聽的 8143、dpsContextRoot 固定 api/v1、dpsSecured 建議開 true。如果環境憑證還沒設定好，http.proxySupport 記得設成 off，不然常常會卡在憑證驗證失敗。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整條連線路徑：VS Code 透過 Zowe Explorer 的 rse profile 連上主機，除錯請求先到 Remote Debug Service（RDS，設定在 eqarmtd.env），RDS 會把 session「停放」住，讓我們可以用『連接到停放的除錯階段作業』隨時接上；Debug Profile Service（DPS，設定在 eqaprof.env）管理像 PROFILE-1 這樣的 Debug Profile；最後才是 z/OS Debugger 引擎本身，讀取 EQAOPTS 裡的環境選項（例如等一下會講的 CODEPAGE 937），去控制 TEST 這個 job 的執行與中斷。理解這條路徑，之後遇到連不上、中斷點失效等問題時，比較容易判斷是卡在哪一層。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重點是複製一份專門拿來除錯用的 JCL（我們命名為 TSTJJ），不要直接改正式的 JCL。加上 CEEOPTS DD 卡，內容是 TEST(ERROR,,PROMPT,RDS:*)：ERROR 表示遇到錯誤才觸發測試模式（不像 ALL 那樣每個敘述都停），RDS:* 是指定讓 Remote Debug Service 接手顯示，這樣才能在 VS Code 上看到。RPTOPTS(ON) 方便之後追蹤 TEST/NOTEST 設定有沒有生效。最容易忽略、也最容易踩雷的是 STEPLIB 順序——一定要把自己的 AZARLN.#TEST.LOAD 排在系統預設的 IDZEE.DEBUG.SEQAMOD 前面，不然等一下要讓 EQAOPTS 裡的 CODEPAGE 設定生效時，系統會優先載入預設模組，自訂設定完全不會生效，這是我們踩過的一個坑。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這三行 %PROCESS 敘述要放在原始碼最前面、PROCEDURE 敘述之前，控制的是編譯器怎麼產生除錯用的 hook 跟符號資訊。這裡有兩個容易混淆的地方要澄清：第一，這是編譯期的選項，透過原始碼裡的 %PROCESS 敘述設定，跟後面 Step 3 要講的、執行期透過 CEEOPTS 或 PARM= 傳的 TEST() 執行期選項完全是兩回事，不要搞混；第二，用 %PROCESS 而不是把選項塞進編譯 JCL 的 PARM= 欄位，是因為 PARM= 有 100 字元上限，除錯相關選項一多很容易超過，跳出 IEF642I 錯誤，%PROCESS 沒有這個長度限制。NOHOOK 選項的用意是不把除錯 hook 寫死編譯進 load module 本體，而是讓 Debug Profile 在執行期動態插入，好處是一般正式執行時程式體積更小、效能影響更低，只有連上除錯階段作業時才會有 hook 生效。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編譯連結的部分不需要另外準備新的 PROC，沿用原本的 @INBTCHD 跟 @INBTCHL 就好，前提是 @INBTCHD 裡的編譯步驟要有 SYSDEBUG 這張 DD，指向 AZARLN.#TEST.DTSF(&amp;MEM)，這是除錯符號檔，存放原始碼行號跟編譯後位址的對照資訊，執行期除錯器透過 IBMDBGIN 這個 DD 名稱自動找到它，不需要額外指定路徑。編譯 JCL 沒變，一樣是 STEP1 跑 @INBTCHD、STEP2 跑 @INBTCHL，MEM 都是 TEST。之後在 VS Code 中斷點清單看到的路徑 AZARLN.#TEST.DTSF(TEST).pli，就是這個 DTSF 資料集在提供原始碼對照。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除了改 JCL 之外，還要準備幾個新元件：一是除錯專用 JCL（TSTJJ）；二是 EQAOPTS 的組合語言原始碼，裡面放了 CODEPAGE 937 的設定；三是把這份原始碼組譯連結後產生的 EQAOPTS load module；四是補到 56 筆以上的測試資料，確保能觸發滿 48 行換頁的邏輯；最後是在 VS Code 的 Z/OS DEBUGGER PROFILES 面板建立的 PROFILE-1，裡面「EQAOPTS 檔案」欄位要指向剛剛組譯出來的 EQAOPTS member，這樣除錯階段作業啟動時才會套用我們自訂的環境選項。下一頁會示範怎麼實際建立這個 PROFILE-1。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整理一下除了程式本身之外，還要新增哪些 member 跟資料集。TSTJJ 是除錯用的 CEEOPTS 版執行 JCL；AZARLN.#TEST.DTSF(TEST) 是編譯自動產生的除錯符號檔；SHUYY.DLAYDBG.EQAUOPTS 是 Debug Profile Service 用來比對「這個 Job／Load module／Program 是不是允許除錯」的清單，這個檔案是 VS Code 按下『啟動以進行除錯』時自動寫入更新的，不需要手動維護；AZARLN.#TEST.PLI(EQAOPTS) 是組譯 JCL 原始碼，裡面設定 CODEPAGE 等選項，複製官方範本修改就好；組譯連結出來的 AZARLN.#TEST.LOAD(EQAOPTS) 才是真正生效的版本；最後 AZARLN.CIFREJ3.PS 是測試資料，可以視 Demo 需要增補筆數。這裡有一個很重要的限制要特別提醒：CODEPAGE 這個 EQAOPTS 指令只能透過組譯出的 load module 生效，用純文字 PDS member </a:t>
            </a:r>
            <a:r>
              <a:rPr lang="en-US" dirty="0" err="1"/>
              <a:t>是沒有用的，這是官方文件明確寫的限制，我們也實際驗證過，純文字版本組譯前完全不會套用</a:t>
            </a:r>
            <a:r>
              <a:rPr lang="en-US" dirty="0"/>
              <a:t>。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除了改</a:t>
            </a:r>
            <a:r>
              <a:rPr lang="en-US" dirty="0"/>
              <a:t> JCL </a:t>
            </a:r>
            <a:r>
              <a:rPr lang="en-US" dirty="0" err="1"/>
              <a:t>之外，還要準備幾個新元件：一是除錯專用</a:t>
            </a:r>
            <a:r>
              <a:rPr lang="en-US" dirty="0"/>
              <a:t> JCL（TSTJJ）；</a:t>
            </a:r>
            <a:r>
              <a:rPr lang="en-US" dirty="0" err="1"/>
              <a:t>二是</a:t>
            </a:r>
            <a:r>
              <a:rPr lang="en-US" dirty="0"/>
              <a:t> EQAOPTS </a:t>
            </a:r>
            <a:r>
              <a:rPr lang="en-US" dirty="0" err="1"/>
              <a:t>的組合語言原始碼，裡面放了</a:t>
            </a:r>
            <a:r>
              <a:rPr lang="en-US" dirty="0"/>
              <a:t> CODEPAGE 937 </a:t>
            </a:r>
            <a:r>
              <a:rPr lang="en-US" dirty="0" err="1"/>
              <a:t>的設定；三是把這份原始碼組譯連結後產生的</a:t>
            </a:r>
            <a:r>
              <a:rPr lang="en-US" dirty="0"/>
              <a:t> EQAOPTS load </a:t>
            </a:r>
            <a:r>
              <a:rPr lang="en-US" dirty="0" err="1"/>
              <a:t>module；四是補到</a:t>
            </a:r>
            <a:r>
              <a:rPr lang="en-US" dirty="0"/>
              <a:t> 56 </a:t>
            </a:r>
            <a:r>
              <a:rPr lang="en-US" dirty="0" err="1"/>
              <a:t>筆以上的測試資料，確保能觸發滿</a:t>
            </a:r>
            <a:r>
              <a:rPr lang="en-US" dirty="0"/>
              <a:t> 48 </a:t>
            </a:r>
            <a:r>
              <a:rPr lang="en-US" dirty="0" err="1"/>
              <a:t>行換頁的邏輯；最後是在</a:t>
            </a:r>
            <a:r>
              <a:rPr lang="en-US" dirty="0"/>
              <a:t> VS Code </a:t>
            </a:r>
            <a:r>
              <a:rPr lang="en-US" dirty="0" err="1"/>
              <a:t>的</a:t>
            </a:r>
            <a:r>
              <a:rPr lang="en-US" dirty="0"/>
              <a:t> Z/OS DEBUGGER PROFILES </a:t>
            </a:r>
            <a:r>
              <a:rPr lang="en-US" dirty="0" err="1"/>
              <a:t>面板建立的</a:t>
            </a:r>
            <a:r>
              <a:rPr lang="en-US" dirty="0"/>
              <a:t> PROFILE-1，裡面「EQAOPTS </a:t>
            </a:r>
            <a:r>
              <a:rPr lang="en-US" dirty="0" err="1"/>
              <a:t>檔案」欄位要指向剛剛組譯出來的</a:t>
            </a:r>
            <a:r>
              <a:rPr lang="en-US" dirty="0"/>
              <a:t> EQAOPTS </a:t>
            </a:r>
            <a:r>
              <a:rPr lang="en-US" dirty="0" err="1"/>
              <a:t>member，這樣除錯階段作業啟動時才會套用我們自訂的環境選項。下一頁會示範怎麼實際建立這個</a:t>
            </a:r>
            <a:r>
              <a:rPr lang="en-US" dirty="0"/>
              <a:t> PROFILE-1。</a:t>
            </a:r>
          </a:p>
          <a:p>
            <a:endParaRPr lang="en-US" dirty="0"/>
          </a:p>
          <a:p>
            <a:endParaRPr lang="en-US" dirty="0"/>
          </a:p>
          <a:p>
            <a:pPr rtl="0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SHUYY.DLAYDBG.EQAUOPTS</a:t>
            </a:r>
            <a:r>
              <a:rPr lang="en-TW" dirty="0"/>
              <a:t>是 </a:t>
            </a:r>
            <a:r>
              <a:rPr lang="en-TW" b="1" dirty="0"/>
              <a:t>VS Code(IBM Z Open Debug 外掛)自動產生的「延遲除錯(Delay Debug)」設定檔</a:t>
            </a:r>
            <a:r>
              <a:rPr lang="en-TW" dirty="0"/>
              <a:t>,不是你自己手動維護的東西,是工具幫你自動寫出來的。</a:t>
            </a:r>
          </a:p>
          <a:p>
            <a:pPr rtl="0"/>
            <a:r>
              <a:rPr lang="en-TW" b="1" dirty="0"/>
              <a:t>各行是什麼意思</a:t>
            </a:r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&lt;NM2&gt;TEST,TEST</a:t>
            </a:r>
            <a:r>
              <a:rPr lang="en-TW" dirty="0"/>
              <a:t> — 要攔截的</a:t>
            </a:r>
            <a:r>
              <a:rPr lang="en-TW" b="1" dirty="0"/>
              <a:t>程式名稱</a:t>
            </a:r>
            <a:r>
              <a:rPr lang="en-TW" dirty="0"/>
              <a:t>(這裡兩次都是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</a:t>
            </a:r>
            <a:r>
              <a:rPr lang="en-TW" dirty="0"/>
              <a:t>,對應你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 PGM=TEST</a:t>
            </a:r>
            <a:r>
              <a:rPr lang="en-TW" dirty="0"/>
              <a:t> 那支程式)</a:t>
            </a:r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&lt;TST&gt;TEST(ERROR,-AZARLN.#TEST.PLI(DBCSCMD),PROMPT,RDS:-AZARLN.#TEST.PLI(DBCSCMD))</a:t>
            </a:r>
            <a:r>
              <a:rPr lang="en-TW" dirty="0"/>
              <a:t> — 這就是我們這幾天一直在研究的 </a:t>
            </a:r>
            <a:r>
              <a:rPr lang="en-TW" b="1" dirty="0"/>
              <a:t>LE </a:t>
            </a:r>
            <a:r>
              <a:rPr lang="en-TW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TEST()</a:t>
            </a:r>
            <a:r>
              <a:rPr lang="en-TW" b="1" dirty="0"/>
              <a:t> 執行期選項字串</a:t>
            </a:r>
            <a:r>
              <a:rPr lang="en-TW" dirty="0"/>
              <a:t>,只是這次是 VS Code 自己組出來的,而且</a:t>
            </a:r>
            <a:r>
              <a:rPr lang="en-TW" b="1" dirty="0"/>
              <a:t>同一個成員 </a:t>
            </a:r>
            <a:r>
              <a:rPr lang="en-TW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DBCSCMD</a:t>
            </a:r>
            <a:r>
              <a:rPr lang="en-TW" b="1" dirty="0"/>
              <a:t> 同時被指定為第 2 個位置(commands_file)跟第 4 個位置(preferences_file)</a:t>
            </a:r>
            <a:endParaRPr lang="en-TW" dirty="0"/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&lt;EQO&gt;AZARLN.#TEST.PLI(EQAOPT)</a:t>
            </a:r>
            <a:r>
              <a:rPr lang="en-TW" dirty="0"/>
              <a:t> — 指向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EQAOPT</a:t>
            </a:r>
            <a:r>
              <a:rPr lang="en-TW" dirty="0"/>
              <a:t> 這個成員,放的是除錯引擎本身的選項(跟你之前設過的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EQAOPTS</a:t>
            </a:r>
            <a:r>
              <a:rPr lang="en-TW" dirty="0"/>
              <a:t> 系列 member 是同類東西)</a:t>
            </a:r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&lt;JBN&gt;AZARLND</a:t>
            </a:r>
            <a:r>
              <a:rPr lang="en-TW" dirty="0"/>
              <a:t> — 這個延遲除錯設定綁定的 </a:t>
            </a:r>
            <a:r>
              <a:rPr lang="en-TW" b="1" dirty="0"/>
              <a:t>Job 名稱</a:t>
            </a:r>
            <a:endParaRPr lang="en-TW" dirty="0"/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&lt;UID&gt;0a127513-...</a:t>
            </a:r>
            <a:r>
              <a:rPr lang="en-TW" dirty="0"/>
              <a:t> — 這次除錯連線的</a:t>
            </a:r>
            <a:r>
              <a:rPr lang="en-TW" b="1" dirty="0"/>
              <a:t>唯一識別碼</a:t>
            </a:r>
            <a:r>
              <a:rPr lang="en-TW" dirty="0"/>
              <a:t>,VS Code 用來對應到你在畫面上啟動的那個除錯階段</a:t>
            </a:r>
          </a:p>
          <a:p>
            <a:pPr rtl="0"/>
            <a:r>
              <a:rPr lang="en-TW" b="1" dirty="0"/>
              <a:t>它是做什麼用的</a:t>
            </a:r>
          </a:p>
          <a:p>
            <a:pPr rtl="0"/>
            <a:r>
              <a:rPr lang="en-TW" dirty="0"/>
              <a:t>當你在 VS Code 裡用「</a:t>
            </a:r>
            <a:r>
              <a:rPr lang="en-TW" b="1" dirty="0"/>
              <a:t>延遲除錯(Delay Debug / Attach before job starts)</a:t>
            </a:r>
            <a:r>
              <a:rPr lang="en-TW" dirty="0"/>
              <a:t>」這個功能——也就是先在 VS Code 端設定好要攔截哪個 Job,再手動或自動 submit JCL,讓除錯引擎在 Job 一啟動時就自動接上——VS Code 就會在背景自動幫你產生這個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SHUYY.DLAYDBG.EQAUOPTS</a:t>
            </a:r>
            <a:r>
              <a:rPr lang="en-TW" dirty="0"/>
              <a:t> 檔案,把「要攔哪個程式」「用什麼 TEST 選項」「連到哪個除錯階段」這些資訊寫進去,取代你自己手動在 JCL 裡加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CEEOPTS</a:t>
            </a:r>
            <a:r>
              <a:rPr lang="en-TW" dirty="0"/>
              <a:t>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www.ibm.com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/docs/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wdfrhcw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/1.4.0?topic=applications-debugging-your-application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www.ibm.com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/docs/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zh-tw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/developer-for-zos/16.0.x?topic=application-starting-interactive-debug-session</a:t>
            </a:r>
          </a:p>
          <a:p>
            <a:pPr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Debugging your application</a:t>
            </a:r>
          </a:p>
          <a:p>
            <a:pPr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Last Updated: 2022-04-06</a:t>
            </a:r>
          </a:p>
          <a:p>
            <a:pPr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you launch the application, use launch.json to connect to z/OS® Debugger to list parked debug sessions or display the session in the editor for debugging.</a:t>
            </a:r>
          </a:p>
          <a:p>
            <a:pPr lvl="0"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IDE uses </a:t>
            </a: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(Opens in a new tab or window)"/>
              </a:rPr>
              <a:t>launch.json</a:t>
            </a:r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control the configuration and invocation of debug adapters for various languages and runtimes. Z Open Debug provides two launch.json configuration types for working with z/OS Debugger sessions on a remote z/OS host:</a:t>
            </a: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You can use the attach type of configuration to list debug sessions that are parked on a z/OS machine."/>
              </a:rPr>
              <a:t>Attach</a:t>
            </a:r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 list parked z/OS Debugger debug sessions on a z/OS host.</a:t>
            </a:r>
          </a:p>
          <a:p>
            <a:pPr lvl="0" fontAlgn="base"/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You can use the launch type of configuration to connect the Z Open Debug user interface to a parked debug session."/>
              </a:rPr>
              <a:t>Launch</a:t>
            </a:r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 connect to a parked z/OS Debugger debug session on a z/OS host.</a:t>
            </a:r>
          </a:p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3473112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實際操作：在 Zowe Explorer 樹狀圖最下面有一個「Z/OS DEBUGGER PROFILES」區塊，展開 Debug Profiles → Non-CICS，右鍵新增一個 Profile 並命名為 PROFILE-1。點開它會看到一個設定畫面，如右圖：工作資訊要填工作名稱（跟 JCL 的 JOB NAME 對應）；除錯器選項要填測試層次 TEST、錯誤層次 ERROR、提示層次 PROMPT，這三個值要跟 JCL CEEOPTS 卡裡 TEST(ERROR,,PROMPT,RDS:*) 的設定對應；最關鍵的是「EQAOPTS 檔案」這個欄位，一定要指向我們剛剛組譯連結出來的 AZARLN.#TEST.LOAD(EQAOPTS)，CODEPAGE 937 的中文顯示設定才會生效。填完存檔，左側會看到 PROFILE-1 顯示「作用中模式：除錯」。之後只要送出除錯用的 JCL，回到 VS Code 用「連接到停放的除錯階段作業」，就會套用這個 Profile 的所有設定連上除錯階段作業。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2873-859E-3F10-D7E5-C6B155191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126FC-F808-35FF-50E5-25561D78D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F98098-DADF-4F79-B9E1-BD3EEB11D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實際操作：在 Zowe Explorer 樹狀圖最下面有一個「Z/OS DEBUGGER PROFILES」區塊，展開 Debug Profiles → Non-CICS，右鍵新增一個 Profile 並命名為 PROFILE-1。點開它會看到一個設定畫面，如右圖：工作資訊要填工作名稱（跟 JCL 的 JOB NAME 對應）；除錯器選項要填測試層次 TEST、錯誤層次 ERROR、提示層次 PROMPT，這三個值要跟 JCL CEEOPTS 卡裡 TEST(ERROR,,PROMPT,RDS:*) 的設定對應；最關鍵的是「EQAOPTS 檔案」這個欄位，一定要指向我們剛剛組譯連結出來的 AZARLN.#TEST.LOAD(EQAOPTS)，CODEPAGE 937 的中文顯示設定才會生效。填完存檔，左側會看到 PROFILE-1 顯示「作用中模式：除錯」。之後只要送出除錯用的 JCL，回到 VS Code 用「連接到停放的除錯階段作業」，就會套用這個 Profile 的所有設定連上除錯階段作業。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7277F-EA70-D35B-B78D-6665FF2DB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77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中文顯示的修正流程有四個環節，缺一不可：第一，EQAOPTS 組合語言原始碼裡 EQAXOPT CODEPAGE,937 這行原本是註解掉的（前面有星號），要把星號拿掉讓它真正生效；第二，這份原始碼要重新組譯連結，我們一開始沿用範本的步驟名稱 C／L，結果送出時出現 IEFC611I OVERRIDDEN STEP NOT FOUND IN PROCEDURE，後來才發現要改成 ASM／LKED 才對得上 ASMACL 這個 PROC 的實際步驟名稱；第三，STEPLIB 順序要正確，自訂的 AZARLN.#TEST.LOAD 要排在系統的 IDZEE.DEBUG.SEQAMOD 前面；第四，也是最容易忽略的一點——設定完一定要『全新啟動』一次除錯 session，不能用介面上的『重新啟動』按鈕，那個動作目前不支援套用新的 EQAOPTS。驗證方法是看組譯清單裡那行有沒有星號，以及 Binder 輸出的 MODULE SIZE 有沒有從 0x28 變成 0x30 bytes。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左邊是修正前的畫面：可以看到原始碼裡 INIT 字串常數（像是報表標頭文字）全部是亂碼，因為除錯器沒有套用正確的 CODEPAGE，中文字元在轉換時失敗。右邊是套用 EQAOPTS CODEPAGE,937 之後的畫面，可以看到「計算往後日期」「傳送電子郵件退件或電子郵件資料缺漏之報表」這些中文字都正確顯示了。要注意的是，就算 CODEPAGE 設定正確，如果測試資料本身內容有問題（例如原本 11 筆舊資料的姓名欄位放了非法位元組），Debug Console 還是會跳出 EQA2462W Code page conversion of string failed 的警告，這是資料本身的問題，跟除錯器設定無關，可以放心忽略。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除了建立 Debug Profile，VS Code 端還有幾個地方要設定：一是安裝好 IBM Z Open Editor 跟 Z Open Debug 這兩個擴充套件，並且設定好 Zowe Explorer 的連線 profile；二是 zowe.config.json 裡瀏覽資料集用的 encoding 也要設成 937，這跟除錯器本身的 EQAOPTS CODEPAGE 是兩個獨立的設定，兩邊都要對才能保證從瀏覽資料集到除錯畫面全程中文正常；三是 launch.json 裡有三種除錯設定可以用，最常用的是『連接到停放的除錯階段作業』；最後才是送出除錯 JCL、回來接上。整個流程走完一次之後，之後每次除錯只要送 JCL 再連線就好，不用重新設定。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 Demo 流程五個步驟：第一，每次開新的除錯 session 都要先確認 Debug Profile 是作用中狀態，這個狀態不會跨 session 保留；第二，中斷點要設在『目前連線的原始碼分頁』上，不要用另外自己開的舊分頁，不然中斷點會連不上目前的除錯階段作業；第三，送出 TSTJJ，這次工作因為 CEEOPTS 裡的 TEST 選項生效，不會像之前 PARM= 失敗時那樣瞬間結束，而是會停住等待 VS Code 連線；第四，在 VS Code 打開 Command Palette，執行「Z Open Debug：列出停放的除錯階段作業」，選擇剛剛送出的那個 session 連接上去；第五，連上之後程式就會停在你設的中斷點，這時可以打開左側「變數」面板檢視目前的資料狀態，搭配 Step Over 或 Continue 逐步往下走。右圖是實際停在 227 行呼叫日期計算子程序之前的畫面，因為 READ 敘述還沒執行到，CIFREJ3 底下的欄位都還是宣告時的初始空值，這也是判斷『目前執行到哪裡』的一個很直接的線索。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7FD3D-19FE-10A4-9987-4053B70D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DAF34-0EAF-8657-9734-3AA8554F1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7D957-6ABC-B946-5DA5-278150F30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除了建立 Debug Profile，VS Code 端還有幾個地方要設定：一是安裝好 IBM Z Open Editor 跟 Z Open Debug 這兩個擴充套件，並且設定好 Zowe Explorer 的連線 profile；二是 zowe.config.json 裡瀏覽資料集用的 encoding 也要設成 937，這跟除錯器本身的 EQAOPTS CODEPAGE 是兩個獨立的設定，兩邊都要對才能保證從瀏覽資料集到除錯畫面全程中文正常；三是 launch.json 裡有三種除錯設定可以用，最常用的是『連接到停放的除錯階段作業』；最後才是送出除錯 JCL、回來接上。整個流程走完一次之後，之後每次除錯只要送 JCL 再連線就好，不用重新設定。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5412D-5843-CA21-E5BB-C0EC4CA01E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631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這是整份 Demo 用的中斷點設計清單，每一行都對應一個教學重點：233 行是最基本的中斷點示範；227 跟 379 行的 CALL 敘述用來示範 Step Into（F11）怎麼進到子程序內部；264 行在迴圈裡，示範同一個中斷點會被重複命中很多次；287 行示範條件中斷點（依局號分流）；319 行是滿頁換頁的條件中斷點，也是等一下重點 demo 的行；268 行示範用『叫用次數』欄位跳過前幾次命中；352 行原本規劃當記錄點使用（不中斷、只印 log），但後面會說明這個功能目前在 VS Code 上不支援。特別提醒：DCL 宣告敘述不能設中斷點，因為編譯器不會在純宣告上產生 hook，中斷點會顯示掛上但實際上完全連不到，續行時會直接衝到程式結尾。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原始碼行號左側空白處按滑鼠右鍵，會跳出這個選單，這是所有中斷點操作的入口。『加入中斷點』是最單純的一般中斷點；『新增條件中斷點...』可以設運算式或叫用次數；『新增記錄點...』理論上是用來不中斷程式、只在 Debug Console 印出訊息，但實測下來 VS Code 上的 IBM Z Open Debug 目前不支援這個功能，下面幾頁會詳細說明；『新增觸發的中斷點...』比較少用，是設定這個中斷點平常不生效，要等另一個指定的中斷點先被命中後才會被『觸發』啟用，適合『某個條件發生後才開始追蹤特定行為』的情境；『執行至行』則是不設定持久的中斷點，就只是續行執行到你滑鼠停留的這一行為止，適合臨時想跳過中間一大段邏輯時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定條件中斷點的具體步驟：右鍵選『新增條件中斷點...』（注意不是『新增記錄點』，這兩個很容易選錯）；接著會跳出一個下拉選單，有四種類型可選——運算式、叫用次數、記錄訊息、等候中斷點，我們選『運算式』；下面的欄位填入條件式，像是 GWK_LINE_CNT = 48，填完按 Enter 確認；存檔後行號左側的圖示會從實心紅點變成菱形，滑鼠停在上面會顯示目前設定的條件內容。實際續行的時候，只有條件成立的那一次才會真的停下來，Debug Console 會印出類似『the condition GWK_LINE_CNT = 48 evaluated to be true』這樣的訊息。另外一個常用的類型是『叫用次數』，填入數字 N 表示跳過前 N-1 次命中、第 N 次才真正停下來，我們在 268 行填 3 來示範這個用法。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</a:t>
            </a:r>
            <a:r>
              <a:rPr lang="zh-TW" altLang="en-US" dirty="0"/>
              <a:t> 指令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這是實際跑起來成功命中的畫面。做法是在</a:t>
            </a:r>
            <a:r>
              <a:rPr lang="en-US" dirty="0"/>
              <a:t> 319 </a:t>
            </a:r>
            <a:r>
              <a:rPr lang="en-US" dirty="0" err="1"/>
              <a:t>行右鍵選「新增條件中斷點</a:t>
            </a:r>
            <a:r>
              <a:rPr lang="en-US" dirty="0"/>
              <a:t>...」，</a:t>
            </a:r>
            <a:r>
              <a:rPr lang="en-US" dirty="0" err="1"/>
              <a:t>運算式欄位填</a:t>
            </a:r>
            <a:r>
              <a:rPr lang="en-US" dirty="0"/>
              <a:t> GWK_LINE_CNT = 48；因為原本測試資料筆數不夠，行數根本累加不到 48，所以額外補了大約 45 </a:t>
            </a:r>
            <a:r>
              <a:rPr lang="en-US" dirty="0" err="1"/>
              <a:t>筆新資料（總計約</a:t>
            </a:r>
            <a:r>
              <a:rPr lang="en-US" dirty="0"/>
              <a:t> 56 </a:t>
            </a:r>
            <a:r>
              <a:rPr lang="en-US" dirty="0" err="1"/>
              <a:t>筆</a:t>
            </a:r>
            <a:r>
              <a:rPr lang="en-US" dirty="0"/>
              <a:t>），</a:t>
            </a:r>
            <a:r>
              <a:rPr lang="en-US" dirty="0" err="1"/>
              <a:t>補資料時要注意對齊原始碼欄位定義的長度，每筆固定</a:t>
            </a:r>
            <a:r>
              <a:rPr lang="en-US" dirty="0"/>
              <a:t> 150 </a:t>
            </a:r>
            <a:r>
              <a:rPr lang="en-US" dirty="0" err="1"/>
              <a:t>bytes，欄位長度沒對齊會產生新的解析錯誤（像是姓名欄位跑掉之類的</a:t>
            </a:r>
            <a:r>
              <a:rPr lang="en-US" dirty="0"/>
              <a:t>）；補完資料後續行（F5），Debug Console </a:t>
            </a:r>
            <a:r>
              <a:rPr lang="en-US" dirty="0" err="1"/>
              <a:t>印出</a:t>
            </a:r>
            <a:r>
              <a:rPr lang="en-US" dirty="0"/>
              <a:t>『...breakpoint at statement 319 and the condition GWK_LINE_CNT = 48 evaluated to be true.』，</a:t>
            </a:r>
            <a:r>
              <a:rPr lang="en-US" dirty="0" err="1"/>
              <a:t>證實條件中斷點真的在滿</a:t>
            </a:r>
            <a:r>
              <a:rPr lang="en-US" dirty="0"/>
              <a:t> 48 </a:t>
            </a:r>
            <a:r>
              <a:rPr lang="en-US" dirty="0" err="1"/>
              <a:t>行那一刻才停下來，不是每次命中都停</a:t>
            </a:r>
            <a:r>
              <a:rPr lang="en-US" dirty="0"/>
              <a:t>。</a:t>
            </a:r>
          </a:p>
          <a:p>
            <a:endParaRPr lang="en-US" altLang="zh-TW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記錄點的操作方式跟條件中斷點完全一樣，只是類型選『記錄訊息』，內容填要印出的樣板字串，用大括號 {} 包變數名稱。但實測下來，滑鼠停在這個標記上會顯示『偵錯工具不支援此類型的中斷點』，右上角截圖就是這個提示。實際續行執行時，這一行完全被當成一般中斷點處理——右下角截圖可以看到 Debug Console 印出『Program was stopped due to line/statement breakpoint at statement 352』，而且連續折疊了很多次（畫面上的數字代表同一則訊息重複出現的次數），代表每筆資料都真的停下來一次，我們設定的訊息樣板從頭到尾沒有被印出來過。我們後來在官方的 z/OS Debugger User's Guide 裡找到根因：Table 3 這張『Remote IDE debug feature comparison』表格明確寫著，透過 Debug Console 下 z/OS Debugger 指令這項功能，只有 Eclipse 版的除錯介面支援，IBM Z Open Debug（也就是 VS Code 這邊）目前只支援『求值運算式跟變數』，這正好可以解釋我們看到的所有現象。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很多人第一次遇到會困惑：明明畫面上有紅色中斷點，為什麼按續行（F5）程式直接衝到結尾、跳出 IBM0368W 結束訊息？原因跟中斷點是否『真的掛上』有關——如果中斷點設在 DCL 宣告這種非可執行敘述上，或是沿用上一輪 session 的舊中斷點（畫面顯示還在，但實際上因為 EQARD1071W『missing debug module or part information』而失效），F5 只會找『真正有效』的中斷點，找不到就一路跑到底。F10（逐步執行 Step Over）跟 F11（逐步執行進入 Step Into）完全不一樣，它們不依賴中斷點清單，就是單純『按一次走一行』，所以不受影響、行為正常。兩者的差別在遇到 CALL 呼叫子程序時：F10 會把整個子程序當一步跨過去，F11 則會真的走進子程序內部，適合像追蹤 GNZCDTE 這種外部日期計算模組的邏輯時使用。下方截圖可以看到停在 Step Over 模式時呼叫堆疊（P3000_PERFORM_TX）跟暫停原因（Pause on Step </a:t>
            </a:r>
            <a:r>
              <a:rPr lang="en-US" dirty="0" err="1"/>
              <a:t>Over）的顯示方式</a:t>
            </a:r>
            <a:r>
              <a:rPr lang="en-US" dirty="0"/>
              <a:t>。</a:t>
            </a:r>
          </a:p>
          <a:p>
            <a:endParaRPr lang="en-US" dirty="0"/>
          </a:p>
          <a:p>
            <a:pPr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differences are as follows:</a:t>
            </a:r>
          </a:p>
          <a:p>
            <a:pPr lvl="0" fontAlgn="base"/>
            <a:r>
              <a:rPr lang="en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Over command</a:t>
            </a:r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br>
              <a:rPr lang="en-TW" dirty="0"/>
            </a:b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command lets the application execute the next action. If the action involves a call to an operation, it does not step into its implementation (it steps over it instead).</a:t>
            </a:r>
          </a:p>
          <a:p>
            <a:pPr lvl="0" fontAlgn="base"/>
            <a:endParaRPr lang="en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r>
              <a:rPr lang="en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Into command: </a:t>
            </a:r>
            <a:br>
              <a:rPr lang="en-TW" dirty="0"/>
            </a:b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command lets the application execute the next action. If the action involves a call to an operation, it steps into its implementation and breaks the execution on the first action of that implementation.</a:t>
            </a:r>
          </a:p>
          <a:p>
            <a:pPr lvl="0" fontAlgn="base"/>
            <a:endParaRPr lang="en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r>
              <a:rPr lang="en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Out command: </a:t>
            </a:r>
            <a:br>
              <a:rPr lang="en-TW" dirty="0"/>
            </a:b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command lets the application execute until the currently executed operation implementation is returned.</a:t>
            </a:r>
          </a:p>
          <a:p>
            <a:pPr lvl="0" fontAlgn="base"/>
            <a:endParaRPr lang="en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endParaRPr lang="en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前一頁</a:t>
            </a:r>
            <a:r>
              <a:rPr lang="en-US" dirty="0"/>
              <a:t> Q&amp;A </a:t>
            </a:r>
            <a:r>
              <a:rPr lang="en-US" dirty="0" err="1"/>
              <a:t>提到中斷點設了、續行卻直接跑到底，這裡展開說明</a:t>
            </a:r>
            <a:r>
              <a:rPr lang="en-US" dirty="0"/>
              <a:t> F5、F10、F11 三者的差異。F5（繼續 Continue）只會跑到下一個『真正有效』的中斷點才停，如果目前掛的中斷點全部失效，就會一路衝到程式結尾；F10（逐步執行 Step </a:t>
            </a:r>
            <a:r>
              <a:rPr lang="en-US" dirty="0" err="1"/>
              <a:t>Over）不管有沒有中斷點，就是單純一次執行一行，遇到</a:t>
            </a:r>
            <a:r>
              <a:rPr lang="en-US" dirty="0"/>
              <a:t> CALL 呼叫子程序時把整個子程序當一步跨過去，不會進到內部；F11（逐步執行進入 Step </a:t>
            </a:r>
            <a:r>
              <a:rPr lang="en-US" dirty="0" err="1"/>
              <a:t>Into）跟</a:t>
            </a:r>
            <a:r>
              <a:rPr lang="en-US" dirty="0"/>
              <a:t> F10 </a:t>
            </a:r>
            <a:r>
              <a:rPr lang="en-US" dirty="0" err="1"/>
              <a:t>一樣一行一行走，但遇到</a:t>
            </a:r>
            <a:r>
              <a:rPr lang="en-US" dirty="0"/>
              <a:t> CALL </a:t>
            </a:r>
            <a:r>
              <a:rPr lang="en-US" dirty="0" err="1"/>
              <a:t>時會真的走進子程序內部，適合追蹤像</a:t>
            </a:r>
            <a:r>
              <a:rPr lang="en-US" dirty="0"/>
              <a:t> P6000_CAL_AF_GNZCDTE </a:t>
            </a:r>
            <a:r>
              <a:rPr lang="en-US" dirty="0" err="1"/>
              <a:t>呼叫</a:t>
            </a:r>
            <a:r>
              <a:rPr lang="en-US" dirty="0"/>
              <a:t> GNZCDTE 這種外部日期計算模組的邏輯。F10、F11 </a:t>
            </a:r>
            <a:r>
              <a:rPr lang="en-US" dirty="0" err="1"/>
              <a:t>之所以不受中斷點失效影響，是因為它們根本不依賴中斷點清單，就是『按一次走一行</a:t>
            </a:r>
            <a:r>
              <a:rPr lang="en-US" dirty="0"/>
              <a:t>』；F5 </a:t>
            </a:r>
            <a:r>
              <a:rPr lang="en-US" dirty="0" err="1"/>
              <a:t>則完全依賴中斷點清單裡有沒有真正有效的中斷點，這也是為什麼同樣的環境下</a:t>
            </a:r>
            <a:r>
              <a:rPr lang="en-US" dirty="0"/>
              <a:t> F5 </a:t>
            </a:r>
            <a:r>
              <a:rPr lang="en-US" dirty="0" err="1"/>
              <a:t>表現異常、但</a:t>
            </a:r>
            <a:r>
              <a:rPr lang="en-US" dirty="0"/>
              <a:t> F10/F11 </a:t>
            </a:r>
            <a:r>
              <a:rPr lang="en-US" dirty="0" err="1"/>
              <a:t>卻一切正常的原因。下方截圖是停在</a:t>
            </a:r>
            <a:r>
              <a:rPr lang="en-US" dirty="0"/>
              <a:t> Step Over 模式時呼叫堆疊（P3000_PERFORM_TX）跟暫停原因的顯示畫面。</a:t>
            </a:r>
          </a:p>
          <a:p>
            <a:pPr lvl="0"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在左側活動列點『執行與偵錯』圖示，展開『變數』區塊，會看到 Locals（區域變數）跟 Registers（暫存器）兩個子項目。Locals 會依照 PL/I 的巢狀結構展開，像左圖可以看到 GWK_BODY 底下的 BRH_NO、POLICY_NO、INU_APCNT_NAME 等欄位值，數值剛被賦值或改變時會暫時用藍色底標示，方便一眼看出哪些欄位剛更新；如果套用 CODEPAGE 937 之前，這裡的中文欄位值也會顯示亂碼，這是很好的除錯線索。Registers 則是硬體暫存器層級的內容（像 %GPR0 到 %GPR15），一般教學示範比較少用到，比較常用在組合語言層級除錯或分析記憶體位址時。右下角截圖也可以看到『呼叫堆疊』區塊，會列出目前的函式呼叫鏈，例如 P3000_PERFORM_TX 呼叫自 TEST 主程序，點選任一層可以切換查看該層的變數狀態。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『變數』區塊下方還有一個『監看』（Watch）區塊，這是專門讓我們自己指定要持續追蹤的運算式，不用每次中斷都到 Locals 裡層層展開去找。操作很簡單：點監看區塊的加號或輸入框，直接打運算式，可以是單一變數如 GWK_LINE_CNT，也可以是巢狀欄位如 CIFREJ3.POLICY_NO 或 CIFREJ3.HANDLE_BRH_NO。左圖可以看到監看清單裡已經加了 GWK_LINE_CNT=48、GWK_I=05、CIFREJ3.POLICY_NO、CIFREJ3.HANDLE_BRH_NO 這幾個運算式，畫面上還同時顯示了滑鼠停在 319 行中斷點圖示上的提示框，內容是『條件：GWK_LINE_CNT = 48』，這也是快速確認某個中斷點目前設定的方式之一。建議把跟教學重點直接相關的欄位放進監看清單，像換頁計數、頁碼、局號、保單號碼，這樣每次中斷都能一眼看到關鍵數值變化，不用一直展開摺疊。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下角的『中斷點』面板是另一個重要的控制中心。每個中斷點前面都有一個核取方塊，勾選代表啟用、取消勾選代表暫時停用但不刪除設定，之後想重新啟用直接勾回來就好，這個技巧在專心測試某一個中斷點、想排除其他迴圈中斷點干擾時很好用。圖示方面，紅色實心圓點是一般中斷點，菱形或空心樣式是條件中斷點／記錄點。左圖是正常狀態下的清單，可以看到 227、233、264、268、287、319 等行都勾選啟用中；右圖則是我們實際遇到的『殘影中斷點』情況——同一個檔名底下出現了重複的行號（227 出現兩次、233 出現兩次），這是因為每次重新連上新的除錯 session，VS Code 並不會自動清掉上一輪設定的中斷點，只是那些舊的連不上新 session（就是前面提到的 EQARD1071W），變成『看得到但用不到』的殘影。清單越堆越多會很亂，也容易不小心勾錯，建議定期選取這些殘影項目按 Delete 鍵清掉。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這是我們遇到的第一個環境問題：Remote Debug Service（EQAPROF started task）啟動時跳出 JVMSHRC684E Permission Denied，JVM 完全起不來，導致除錯服務整個連不上。查下去發現根因是 /tmp/javasharedresources 目錄底下，先前某次異常中斷（可能是 STC 被強制砍掉）留下了卡死的共享類別快取跟號誌檔案，新的 JVM 啟動時想用同一個共享快取，但檔案狀態不一致就直接失敗。解法是把該 started task 帳號名下卡住的 memory_sharedcc 跟 semaphore_sharedcc 檔案刪掉，讓 JVM 重新建立乾淨的快取，重啟後就正常了。如果想要長期根治、避免未來又發生同樣問題，可以在 eqarmtd.env 裡加上 OPENJ9_JAVA_OPTIONS="-Xshareclasses:none" 直接關閉共享類別快取機制，代價是每次啟動會稍微慢一點，但穩定性換取這個代價通常是值得的。這個問題已經解決，狀態標記為綠色。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這個限制我們前面已經示範過現象了（灰色殘影中斷點、EQARD1071W 警告訊息），這裡整理成正式結論。我們查了官方的 z/OS Debugger User's Guide，確認了根因：文件裡明確寫著儲存中斷點／監看規格的檔案機制（Save breakpoints/monitor specifications）不適用於遠端除錯（remote debug）session。也就是說，這不是我們操作有誤，而是這個機制在遠端除錯模式下設計上就不支援跨 session 保留，每次重新連上一個新的除錯階段作業，都必須重新設定一次中斷點。實務上的建議做法：定期把清單裡灰色或空心的殘影項目清掉，保持乾淨好辨識；如果要示範特定行為（例如只想測 319 行的條件中斷點），先把同一迴圈裡其他中斷點取消勾選，減少被中途攔截、體感上會更順暢。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延續前面記錄點不支援的結論，我們也嘗試過幾個替代方案，但都不可行：一是直接在 Debug Console 或『Z/OS 主控台』面板輸入除錯器原生指令 AT STATEMENT 352 { LIST(...); GO; }，想繞過 Add Logpoint 的限制直接下指令；結果 Z/OS 主控台回覆『Not implemented yet for profile of type: rse』，代表這個 profile 類型根本沒實作這個功能；Debug Console 的輸入框官方文件說明是僅供表達式求值使用，不接受除錯器指令。我們也做了重現驗證：實際跑起來的時候，同一則『stopped due to statement 352』訊息被 VS Code 折疊起來，顯示連續出現了 15 次，證實這一行完全是被當成一般中斷點處理，每筆資料都真的停下來一次，而我們設定的記錄訊息內容從頭到尾沒有被印出來過。目前這個問題已經正式回報給 IBM Support 的窗口 Franka，附上了官方文件 Table 3 的出處、完整重現步驟，以及這個折疊 15 次的具體證據，等待官方確認這究竟是尚未實作的功能（DAP 的 supportsLogPoints capability）還是有其他非停止式的追蹤輸出機制。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總結一下跟 IBM Support 的溝通進度：三個問題，兩個已經解決。Q1 記錄點／非停止式追蹤輸出目前還在追蹤中，我們已經提供了官方文件 Table 3 的佐證跟具體重現證據，等待官方確認替代方案；Q2 JVM 共享類別快取權限錯誤已經解決，用刪除卡死快取檔案的方式排除，長期可以用 -Xshareclasses:none 選項治本；Q3 CODEPAGE 中文顯示問題也已經解決，關鍵在 EQAOPTS 模組要正確組譯連結，加上 STEPLIB 順序要排對。下一步：第一，繼續等 Support 針對記錄點的正式回覆；第二，如果最後確認這真的是未支援的功能，我們會評估改用『一般中斷點加上手動檢視變數、監看運算式』作為長期的教學替代方案，畢竟教學目的還是要能追蹤到關鍵資料的變化；第三，會持續補齊測試資料，涵蓋更多分支情境，像是換局號、多頁換頁等等，讓教學案例更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整理三個真正卡關又解開的問題。第一個是 PARM= 跟 CEEOPTS 的差異，我們的推測是這台 LPAR 的 Language Environment 安裝時把 EXECOPS 設成不可覆寫，導致執行期 PARM= 傳的選項被擋掉，但 CEEOPTS DD 這條路徑沒有被擋；這只是推測，還沒有跟 IBM Support 完全確認根因，但用 RPTOPTS(ON) 可以直接看到報表列出目前真正生效的選項來源，拿來驗證很方便。第二個是中斷點設了續行卻直接跑到底，這通常有兩種原因：中斷點設在 DCL 宣告這種非可執行敘述上，編譯器根本不會在這裡產生可以掛中斷點的 hook；或者是沿用了上一輪除錯階段作業留下的舊中斷點，這種情況官方訊息 EQARD1071W 會明確提示『missing debug module or part information』，代表這個中斷點連不上目前這次的 session，需要在目前連線的分頁上重新設定。第三個是 JVM 共享類別快取的權限警告 JVMSHRC684E，根因是 /tmp/javasharedresources 這個預設快取目錄底下殘留了之前異常中斷留下的卡死檔案，解法是用啟動 EQAPROF 的那個 STC 使用者身分把 memory_sharedcc、semaphore_sharedcc 這些卡住的檔案刪掉，再把 EQAPROF 這個 STC 停掉重啟，長期則可以在 eqarmtd.env 加上 OPENJ9_JAVA_OPTIONS="-Xshareclasses:none" 直接關閉共享快取機制，避免同樣問題再發生。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第四個問題是中文亂碼，z/OS Debugger 預設碼頁是 037，我們的程式用的是 937 繁體中文，碼頁不對就會顯示亂碼。修法是組譯一份 EQAOPTS load module，裡面包含 EQAXOPT CODEPAGE,937 這行指令，放進 STEPLIB 搜尋得到的路徑；這裡要特別強調『必須是組譯出的 load module』，純文字的 PDS member 對這個指令完全無效，這是我們實際踩過的坑。第五個問題是記錄點的訊息能不能存到 z/OS 端的永久檔案，官方文件寫得很清楚：z/OS Debugger 在遠端除錯模式下不使用日誌檔，這是架構本身的限制，不是我們設定沒做對，訊息只能顯示在當次的 Debug Console，沒辦法持久化保存。第六個問題是 Debug Profile 建立時用到的組譯 JCL 一直報 JCL ERROR，原因是我們照抄的範本假設 PROC 步驟名稱是 C 跟 L，但實際環境的 ASMACL PROC 步驟名稱是 ASM 跟 LKED，這個不一致會讓系統找不到對應步驟、跳出 IEFC611I OVERRIDDEN STEP NOT FOUND IN PROCEDURE，修法是把 JCL 裡所有 //C.xxx、//L.xxx 這些步驟覆蓋以及 PARM.C=、PARM.L= 這些參數覆蓋，全部一起改成 ASM、LKED 對應的名稱。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感謝大家聽到最後。歡迎針對環境建置、中文顯示、中斷點與記錄點的操作方式，或是我們跟 IBM Support 溝通的進度提出問題，我們可以再一起討論看看有沒有其他替代做法。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ode.visualstudio.com/docs/debugtest/debugging" TargetMode="External"/><Relationship Id="rId4" Type="http://schemas.openxmlformats.org/officeDocument/2006/relationships/hyperlink" Target="https://www.ibm.com/docs/en/debug-for-zos/17.0.x?topic=zdug-pdf-versions" TargetMode="External"/><Relationship Id="rId5" Type="http://schemas.openxmlformats.org/officeDocument/2006/relationships/hyperlink" Target="https://www.ibm.com/docs/en/developer-for-zos/17.0.x?topic=code-debugging-applications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ibm.com/docs/en/wdfrhcw/1.4.0?topic=applications-debugging-your-application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Relationship Id="rId4" Type="http://schemas.openxmlformats.org/officeDocument/2006/relationships/hyperlink" Target="https://www.ibm.com/support/pages/differences-between-step-over-step-and-step-out-commands" TargetMode="External"/><Relationship Id="rId5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Relationship Id="rId5" Type="http://schemas.openxmlformats.org/officeDocument/2006/relationships/image" Target="../media/image3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F153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z/OS Debugger for VS Code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PL/I 批次程式除錯環境建置與教學 — AZARLN.#TEST.PLI(TEST) 示範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Z Open Debug  ‧  Remote Debug Service  ‧  Zowe Explorer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532120"/>
            <a:ext cx="10058400" cy="910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chemeClr val="bg1"/>
                </a:solidFill>
              </a:rPr>
              <a:t>參考資料</a:t>
            </a:r>
            <a:r>
              <a:rPr lang="en-US" sz="1200" dirty="0">
                <a:solidFill>
                  <a:schemeClr val="bg1"/>
                </a:solidFill>
              </a:rPr>
              <a:t>：</a:t>
            </a:r>
          </a:p>
          <a:p>
            <a:r>
              <a:rPr lang="en-US" sz="1200" dirty="0">
                <a:solidFill>
                  <a:schemeClr val="bg1"/>
                </a:solidFill>
                <a:hlinkClick r:id="rId3"/>
              </a:rPr>
              <a:t>https://code.visualstudio.com/docs/debugtest/debugging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  <a:hlinkClick r:id="rId4"/>
              </a:rPr>
              <a:t>https://www.ibm.com/docs/en/debug-for-zos/17.0.x?topic=zdug-pdf-versions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  <a:hlinkClick r:id="rId5"/>
              </a:rPr>
              <a:t>https://www.ibm.com/docs/en/developer-for-zos/17.0.x?topic=code-debugging-applications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debugug17052.pdf</a:t>
            </a:r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7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今天要講的內容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216152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程式概觀 — AZARLN.#TEST.PLI(TEST) 這支 PL/I 批次程式在做什麼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18928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2" name="Text 10"/>
          <p:cNvSpPr/>
          <p:nvPr/>
        </p:nvSpPr>
        <p:spPr>
          <a:xfrm>
            <a:off x="50292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4128" y="1874520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環境架構 — VS Code、Zowe Explorer、Remote Debug Service、z/OS Debugger 怎麼串起來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25511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502920" y="2551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24128" y="2532888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程式碼／JCL 要改哪裡才能被除錯（以 TSTJJ 為範本）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32095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8" name="Text 16"/>
          <p:cNvSpPr/>
          <p:nvPr/>
        </p:nvSpPr>
        <p:spPr>
          <a:xfrm>
            <a:off x="502920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4128" y="3191256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要新增哪些資料集／member（EQAOPTS、測試資料）＋ </a:t>
            </a:r>
            <a:r>
              <a:rPr lang="en-US" sz="14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zowe.config.json</a:t>
            </a: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TW" alt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</a:t>
            </a:r>
            <a:r>
              <a:rPr lang="en-US" sz="14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launch.json</a:t>
            </a: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TW" alt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設定教學 </a:t>
            </a:r>
            <a:r>
              <a:rPr lang="en-US" altLang="zh-TW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4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如何建立</a:t>
            </a: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 Profile（PROFILE-1）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3867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502920" y="3867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24128" y="3849624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中文顯示（CODEPAGE 937）踩過的坑與最終解法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02920" y="4526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4" name="Text 22"/>
          <p:cNvSpPr/>
          <p:nvPr/>
        </p:nvSpPr>
        <p:spPr>
          <a:xfrm>
            <a:off x="50292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24128" y="4507992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實機 Demo：中斷點、條件中斷點、記錄點、F5／F10／F11、變數與監看運算式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02920" y="5184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7" name="Text 25"/>
          <p:cNvSpPr/>
          <p:nvPr/>
        </p:nvSpPr>
        <p:spPr>
          <a:xfrm>
            <a:off x="502920" y="5184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24128" y="5166360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已知限制與待解問題（記錄點 logpoint、EQARD1071W）＋ 目前與 IBM Support 的進度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程式概觀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AZARLN.#TEST.PLI(TEST) — 電子郵件退件／資料缺漏報表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6309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 FDATAI（AZARLN.CIFREJ3.PS）保單客戶資料，逐筆處理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HANDLE_BRH_NO（局號）分組列印標頭、依 ADM_ZONE 對應股別代號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每滿 48 行自動換頁（GWK_LINE_CNT = 48 觸發）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呼叫外部模組 GNZCDTE 計算往前一天的日期，寫入報表標頭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 FDATAO（AZARLN.FTABLE.PS）固定格式明細報表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086600" y="1188720"/>
            <a:ext cx="4526280" cy="2834640"/>
          </a:xfrm>
          <a:prstGeom prst="roundRect">
            <a:avLst>
              <a:gd name="adj" fmla="val 2581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7360920" y="1325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關鍵子程序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60920" y="173736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P3000_PERFORM_TX</a:t>
            </a:r>
            <a:r>
              <a:rPr lang="en-US" sz="12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處理單筆資料、換頁邏輯、寫出明細（352 行）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P6000_CAL_AF_GNZCDTE</a:t>
            </a:r>
            <a:r>
              <a:rPr lang="en-US" sz="12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呼叫 GNZCDTE 計算日期（227／379 行）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25196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777240" y="4370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主流程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6634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FDATAI/FDATAO → CALL P6000_CAL_AF_GNZCDTE（算日期）→ READ FDATAI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 WHILE(GWK_FDATAI_EOF ¬= 'Y')：CALL P3000_PERFORM_TX（寫明細＋換頁）→ READ 下一筆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讀到檔尾 ON ENDFILE 觸發 → 迴圈結束 → CLOSE 檔案 → CALL PLIRETC 回傳 RC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42480"/>
            <a:ext cx="838177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前置需求清單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58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主機端與用戶端各自要準備好的東西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56692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主機端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EQARMTD、EQAPROF 兩個 STC 都要啟動中（SDSF PREFIX EQA* 確認）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IFAPRD PARMLIB 已啟用 IBM Debug for z／IDz EE 產品項目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PL/I 程式庫、COPY book 一般 APF 權限即可，不需要特殊授權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用戶端（VS Code）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安裝 Zowe Explorer + IBM Z Open Debug 延伸模組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zowe.config.json 裡要有一個 type="zOpenDebug" 的 profile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http.proxySupport 設為 off（避免憑證驗證衝突）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/home/claude/work/assets/zowe_config_js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467" y="1234440"/>
            <a:ext cx="5196745" cy="27889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355080" y="4160520"/>
            <a:ext cx="5303520" cy="2194560"/>
          </a:xfrm>
          <a:prstGeom prst="roundRect">
            <a:avLst>
              <a:gd name="adj" fmla="val 2500"/>
            </a:avLst>
          </a:prstGeom>
          <a:solidFill>
            <a:srgbClr val="0F15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83680" y="4251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zowe.config.json 關鍵片段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83680" y="4526280"/>
            <a:ext cx="4892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"zOpenDebug_1":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"zOpenDebug",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"properties":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"host": "10.9.8.1",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"dpsPort": 8143,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"dpsContextRoot": "api/v1",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"dpsSecured": true,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"authenticationType": "Basic",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"rejectUnauthorized": false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環境架構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VS Code 到 z/OS Debugger 的連線路徑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57607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607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Z Open Editor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Open Debug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5856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7744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34407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245059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Zowe Explorer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45059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 profile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(zowe.config.json)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3308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5196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432511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Debug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(RDS)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eqarmtd.env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0760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2648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34407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619963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Profile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(DPS)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9963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eqaprof.env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8212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00100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807415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z/OS Debugger 引擎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07415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（EQAOPTS 環境選項）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5664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87552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34407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9" name="Text 27"/>
          <p:cNvSpPr/>
          <p:nvPr/>
        </p:nvSpPr>
        <p:spPr>
          <a:xfrm>
            <a:off x="994867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測試程式 TEST job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94867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（AZARLN.#TEST.LOAD／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STEPLIB）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977640"/>
            <a:ext cx="11109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端安裝 IBM Z Open Editor／Z Open Debug 擴充套件，透過 Zowe Explorer 的 rse profile 連上主機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Debug Service（RDS）負責把除錯階段作業「停放」起來，讓 VS Code 可以隨時連接／中斷連接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Profile Service（DPS）管理各個 Debug Profile（如 PROFILE-1）的連線資訊與作用中狀態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最終由 z/OS Debugger 引擎（讀取 EQAOPTS 選項）控制 TEST job 實際執行與停下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程式碼／JCL 要改哪裡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AZARLN.#TEST.PLI(TSTJJ) 為範本，複製一份給除錯用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複製一份平常跑的 JCL，改名為 TSTJJ（或任意名稱），加上除錯專用 CEEOPTS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</a:t>
            </a:r>
            <a:endParaRPr lang="en-US" sz="1350" dirty="0">
              <a:solidFill>
                <a:srgbClr val="0F15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900"/>
              </a:spcAft>
              <a:buSzPct val="100000"/>
              <a:buFontTx/>
              <a:buChar char="•"/>
            </a:pP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一模一樣的選項字串，改用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CEEOPTS DD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就能正常觸發除錯，並經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RPTOPTS(ON)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報表證實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確實從這裡讀到選項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TEST(ERROR,,PROMPT,RDS:*) — 用 ERROR 層次測試選項（不是 ALL），並指定 RDS:* 讓遠端 Debug Service 接手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RPTOPTS(ON) — 開啟報告選項，方便追蹤 TEST／NOTEST 設定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STEPLIB 務必把自訂的 AZARLN.#TEST.LOAD 排在系統預設的 IDZEE.DEBUG.SEQAMOD 前面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1234440"/>
            <a:ext cx="5669280" cy="3566160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6217920" y="1417320"/>
            <a:ext cx="51663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//TEST     EXEC PGM=TEST
</a:t>
            </a:r>
            <a:r>
              <a:rPr lang="en-US" sz="1200" b="1" dirty="0">
                <a:solidFill>
                  <a:srgbClr val="EA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//CEEOPTS  DD  *</a:t>
            </a:r>
            <a:r>
              <a:rPr lang="en-US" sz="1200" dirty="0">
                <a:solidFill>
                  <a:srgbClr val="8F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b="1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TEST(ERROR,,PROMPT,RDS:*)
RPTOPTS(ON)
</a:t>
            </a:r>
            <a:r>
              <a:rPr lang="en-US" sz="1200" dirty="0">
                <a:solidFill>
                  <a:srgbClr val="8F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
</a:t>
            </a:r>
            <a:r>
              <a:rPr lang="en-US" sz="1200" dirty="0">
                <a:solidFill>
                  <a:srgbClr val="9CE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//STEPLIB  DD DSN=AZARLN.#TEST.LOAD,DISP=SHR
</a:t>
            </a:r>
            <a:r>
              <a:rPr lang="en-US" sz="1200" i="1" dirty="0">
                <a:solidFill>
                  <a:srgbClr val="7A8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&lt;- 自訂庫排前面
</a:t>
            </a:r>
            <a:r>
              <a:rPr lang="en-US" sz="1200" dirty="0">
                <a:solidFill>
                  <a:srgbClr val="9CE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DD DSN=IDZEE.DEBUG.SEQAMOD,DISP=SHR
</a:t>
            </a:r>
            <a:r>
              <a:rPr lang="en-US" sz="1200" i="1" dirty="0">
                <a:solidFill>
                  <a:srgbClr val="7A8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&lt;- 系統預設庫排後面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5117912"/>
            <a:ext cx="1110996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Text 10"/>
          <p:cNvSpPr/>
          <p:nvPr/>
        </p:nvSpPr>
        <p:spPr>
          <a:xfrm>
            <a:off x="777240" y="5255072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小提醒：</a:t>
            </a:r>
            <a:r>
              <a:rPr lang="en-US" sz="12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改完存檔重送後，記得回 VS Code 用「連接到停放的除錯階段作業」接上這個 job；STEPLIB 順序錯誤會導致載入到系統預設模組，CODEPAGE 等自訂 EQAOPTS 設定完全不會生效。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程式碼要改哪裡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程式碼要改哪裡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1：原始碼最前面的編譯選項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放在 AZARLN.#TEST.PLI(TEST) 最開頭，PROCEDURE 敘述之前：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1572768"/>
            <a:ext cx="11109960" cy="1143000"/>
          </a:xfrm>
          <a:prstGeom prst="roundRect">
            <a:avLst>
              <a:gd name="adj" fmla="val 4800"/>
            </a:avLst>
          </a:prstGeom>
          <a:solidFill>
            <a:srgbClr val="0F15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1691640"/>
            <a:ext cx="10652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%PROCESS TEST(ALL,NOHOOK,SYM,SEPARATE) LISTVIEW(SOURCE);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%PROCESS DFT(REORDER,LINKAGE(SYSTEM)) DECIMAL(NOFOFLONASGN);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%PROCESS RULES(NOLAXDCL);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11109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為什麼是 %PROCESS，不是 JCL PARM=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JCL PARM= 欄位有 100 字元上限，加上除錯選項很容易超過（IEF642I EXCESSIVE PARAMETER LENGTH）。%PROCESS 沒有這個限制，是編譯期指令，跟稍後 Step 3 執行期的 TEST 選項是兩回事。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NOHOOK 的用意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不把除錯用的 hook 寫死編譯進 load module，改成執行期由 Debug Profile 動態插入，程式體積更小，也是搭配 Debug Profile 的建議寫法。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程式碼要改哪裡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程式碼要改哪裡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2：編譯／連結（沿用原本的 PROC 即可）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@INBTCHD（編譯）內建以下 DD，確保除錯符號檔正確產生：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1536192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0F15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10652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//COMPILE  EXEC PGM=IBMZPLI,REGION=256M,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PARM=('M,MAP,OF,AG,A,NOOPTIMIZE,GONUMBER,S')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//SYSDEBUG DD DSN=AZARLN.#TEST.DTSF(&amp;MEM),DISP=SHR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@INBTCHL（連結）不需要修改。編譯／連結用的 JOB 一樣是：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11109960" cy="594360"/>
          </a:xfrm>
          <a:prstGeom prst="roundRect">
            <a:avLst>
              <a:gd name="adj" fmla="val 9231"/>
            </a:avLst>
          </a:prstGeom>
          <a:solidFill>
            <a:srgbClr val="0F15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2999232"/>
            <a:ext cx="10652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//STEP1   EXEC @INBTCHD,SOUT=X,MEM=TEST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//STEP2   EXEC @INBTCHL,MEM=TEST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3931920"/>
            <a:ext cx="10561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SYSDEBUG 對應的資料集 AZARLN.#TEST.DTSF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存放除錯用的符號表與原始碼對照資訊，執行期除錯器會自動找到它（透過 IBMDBGIN DD），中斷點清單畫面上看到的 AZARLN.#TEST.DTSF(TEST).pli 路徑就是它。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要新增哪些資料集／Member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支援中文顯示與除錯所需的額外元件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37490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612648" y="1280160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Member／資料集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280160"/>
            <a:ext cx="48920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4361688" y="1280160"/>
            <a:ext cx="4672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0" y="1280160"/>
            <a:ext cx="246888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9253728" y="128016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備註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1737360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612648" y="1737360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AZARLN.#TEST.PLI(TSTJJ)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51960" y="1737360"/>
            <a:ext cx="4892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4361688" y="1737360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除錯專用 JCL（複製自正式 JCL）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0" y="1737360"/>
            <a:ext cx="2468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Text 17"/>
          <p:cNvSpPr/>
          <p:nvPr/>
        </p:nvSpPr>
        <p:spPr>
          <a:xfrm>
            <a:off x="9253728" y="1737360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STEPLIB 順序要對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2359152"/>
            <a:ext cx="374904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612648" y="2359152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AZARLN.#TEST.PLI(EQAOPTS)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51960" y="2359152"/>
            <a:ext cx="489204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Text 21"/>
          <p:cNvSpPr/>
          <p:nvPr/>
        </p:nvSpPr>
        <p:spPr>
          <a:xfrm>
            <a:off x="4361688" y="2359152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組譯 EQAOPTS 選項模組的組合語言原始碼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44000" y="2359152"/>
            <a:ext cx="246888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9253728" y="2359152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內含 EQAXOPT CODEPAGE,937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2980944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 25"/>
          <p:cNvSpPr/>
          <p:nvPr/>
        </p:nvSpPr>
        <p:spPr>
          <a:xfrm>
            <a:off x="612648" y="2980944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AZARLN.#TEST.LOAD(EQAOPTS)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51960" y="2980944"/>
            <a:ext cx="4892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9" name="Text 27"/>
          <p:cNvSpPr/>
          <p:nvPr/>
        </p:nvSpPr>
        <p:spPr>
          <a:xfrm>
            <a:off x="4361688" y="2980944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組譯連結後的 EQAOPTS load module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144000" y="2980944"/>
            <a:ext cx="2468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 29"/>
          <p:cNvSpPr/>
          <p:nvPr/>
        </p:nvSpPr>
        <p:spPr>
          <a:xfrm>
            <a:off x="9253728" y="2980944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由上一個 member 組譯產生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602736"/>
            <a:ext cx="374904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3" name="Text 31"/>
          <p:cNvSpPr/>
          <p:nvPr/>
        </p:nvSpPr>
        <p:spPr>
          <a:xfrm>
            <a:off x="612648" y="3602736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AZARLN.CIFREJ3.PS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251960" y="3602736"/>
            <a:ext cx="489204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5" name="Text 33"/>
          <p:cNvSpPr/>
          <p:nvPr/>
        </p:nvSpPr>
        <p:spPr>
          <a:xfrm>
            <a:off x="4361688" y="3602736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測試資料（保單客戶資料）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44000" y="3602736"/>
            <a:ext cx="246888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7" name="Text 35"/>
          <p:cNvSpPr/>
          <p:nvPr/>
        </p:nvSpPr>
        <p:spPr>
          <a:xfrm>
            <a:off x="9253728" y="3602736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已補到 56 筆以上，觸發滿 48 行換頁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" y="4224528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9" name="Text 37"/>
          <p:cNvSpPr/>
          <p:nvPr/>
        </p:nvSpPr>
        <p:spPr>
          <a:xfrm>
            <a:off x="612648" y="4224528"/>
            <a:ext cx="3639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PROFILE-1（在 </a:t>
            </a:r>
            <a:r>
              <a:rPr lang="en-US" sz="1150" dirty="0" err="1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VScode</a:t>
            </a: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 err="1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上新增</a:t>
            </a:r>
            <a:r>
              <a:rPr lang="zh-TW" alt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Profile）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251960" y="4224528"/>
            <a:ext cx="4892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1" name="Text 39"/>
          <p:cNvSpPr/>
          <p:nvPr/>
        </p:nvSpPr>
        <p:spPr>
          <a:xfrm>
            <a:off x="4361688" y="4224528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除錯 Profile 設定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144000" y="4224528"/>
            <a:ext cx="2468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3" name="Text 41"/>
          <p:cNvSpPr/>
          <p:nvPr/>
        </p:nvSpPr>
        <p:spPr>
          <a:xfrm>
            <a:off x="9253728" y="4224528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「EQAOPTS 檔案」欄位指向 EQAOPT member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程式碼要改哪裡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需要新增的 Member／資料集總表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3246120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名稱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49040" y="1188720"/>
            <a:ext cx="1417320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0480" y="118872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類型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66360" y="1188720"/>
            <a:ext cx="4572000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57800" y="118872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用途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738360" y="1188720"/>
            <a:ext cx="1874520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29800" y="1188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由誰產生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" y="1627632"/>
            <a:ext cx="3246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16276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AZARLN.#TEST.PLI(TSTJJ)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49040" y="1627632"/>
            <a:ext cx="1417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40480" y="16276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JCL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166360" y="1627632"/>
            <a:ext cx="4572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257800" y="16276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除錯用執行 JOB（CEEOPTS 版）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738360" y="1627632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29800" y="16276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手動撰寫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2130552"/>
            <a:ext cx="32461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4360" y="21305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AZARLN.#TEST.DTSF(TEST)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49040" y="2130552"/>
            <a:ext cx="14173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40480" y="213055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除錯符號檔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166360" y="2130552"/>
            <a:ext cx="457200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57800" y="21305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編譯期自動產生，執行期除錯器讀取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738360" y="2130552"/>
            <a:ext cx="18745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829800" y="21305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編譯步驟自動產生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2920" y="2633472"/>
            <a:ext cx="3246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94360" y="2633472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SHUYY.DLAYDBG.EQAUOPTS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749040" y="2633472"/>
            <a:ext cx="14173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840480" y="263347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循序資料集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166360" y="2633472"/>
            <a:ext cx="4572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57800" y="2633472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Debug Profile 的比對清單（Job／Load module／Program）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738360" y="2633472"/>
            <a:ext cx="1874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829800" y="263347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VS Code「啟動除錯」時自動寫入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02920" y="3291840"/>
            <a:ext cx="32461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4360" y="32918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AZARLN.#TEST.PLI(EQAOPTS)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749040" y="3291840"/>
            <a:ext cx="14173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840480" y="32918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組譯 JCL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166360" y="3291840"/>
            <a:ext cx="457200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257800" y="32918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組譯出 EQAOPTS load module（設定 CODEPAGE 等）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738360" y="3291840"/>
            <a:ext cx="18745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829800" y="32918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複製官方範本修改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02920" y="3794760"/>
            <a:ext cx="3246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94360" y="3794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AZARLN.#TEST.LOAD(EQAOPTS)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749040" y="3794760"/>
            <a:ext cx="1417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840480" y="3794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Load module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166360" y="3794760"/>
            <a:ext cx="4572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257800" y="37947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真正生效的 CODEPAGE 設定（純文字檔對此無效）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738360" y="379476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829800" y="37947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組譯 JCL 產出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02920" y="4297680"/>
            <a:ext cx="32461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94360" y="4297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AZARLN.CIFREJ3.PS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3749040" y="4297680"/>
            <a:ext cx="14173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3840480" y="42976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kumimoji="0" lang="en-US" sz="1060" b="0" i="0" u="none" strike="noStrike" kern="1200" cap="none" spc="0" normalizeH="0" baseline="0" noProof="0" dirty="0" err="1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循序資料集Sequential</a:t>
            </a: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60" b="0" i="0" u="none" strike="noStrike" kern="1200" cap="none" spc="0" normalizeH="0" baseline="0" noProof="0" dirty="0" err="1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166360" y="4297680"/>
            <a:ext cx="457200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257800" y="4297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測試輸入資料，可視 Demo 需求增補筆數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9738360" y="4297680"/>
            <a:ext cx="18745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9829800" y="4297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手動維護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97323" y="5596128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FF6E9"/>
          </a:solidFill>
          <a:ln w="12700">
            <a:solidFill>
              <a:srgbClr val="C97A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71643" y="5687568"/>
            <a:ext cx="10561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CODEPAGE 這個 EQAOPTS 指令只能透過組譯出的 load module 設定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，不能用純文字 member（官方文件明確限制）。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47098475-A8AE-937F-0C5F-C8EFA519B35C}"/>
              </a:ext>
            </a:extLst>
          </p:cNvPr>
          <p:cNvSpPr/>
          <p:nvPr/>
        </p:nvSpPr>
        <p:spPr>
          <a:xfrm>
            <a:off x="497324" y="4809744"/>
            <a:ext cx="4696774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7" name="Text 37">
            <a:extLst>
              <a:ext uri="{FF2B5EF4-FFF2-40B4-BE49-F238E27FC236}">
                <a16:creationId xmlns:a16="http://schemas.microsoft.com/office/drawing/2014/main" id="{DED886D2-C232-407E-91F3-D67643278747}"/>
              </a:ext>
            </a:extLst>
          </p:cNvPr>
          <p:cNvSpPr/>
          <p:nvPr/>
        </p:nvSpPr>
        <p:spPr>
          <a:xfrm>
            <a:off x="607052" y="4809744"/>
            <a:ext cx="45593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PROFILE-1（在 </a:t>
            </a:r>
            <a:r>
              <a:rPr lang="en-US" sz="1150" dirty="0" err="1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VScode</a:t>
            </a: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 err="1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上新增</a:t>
            </a:r>
            <a:r>
              <a:rPr lang="zh-TW" alt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Profile）</a:t>
            </a:r>
            <a:endParaRPr lang="en-US" sz="1150" dirty="0"/>
          </a:p>
        </p:txBody>
      </p:sp>
      <p:sp>
        <p:nvSpPr>
          <p:cNvPr id="68" name="Shape 38">
            <a:extLst>
              <a:ext uri="{FF2B5EF4-FFF2-40B4-BE49-F238E27FC236}">
                <a16:creationId xmlns:a16="http://schemas.microsoft.com/office/drawing/2014/main" id="{1F6E13C8-31C3-525D-B472-7EE333756C50}"/>
              </a:ext>
            </a:extLst>
          </p:cNvPr>
          <p:cNvSpPr/>
          <p:nvPr/>
        </p:nvSpPr>
        <p:spPr>
          <a:xfrm>
            <a:off x="5166359" y="4809744"/>
            <a:ext cx="4715061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8222DE45-AC3C-5743-CDCF-94AEB2B83FC5}"/>
              </a:ext>
            </a:extLst>
          </p:cNvPr>
          <p:cNvSpPr/>
          <p:nvPr/>
        </p:nvSpPr>
        <p:spPr>
          <a:xfrm>
            <a:off x="5234816" y="4809744"/>
            <a:ext cx="4503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除錯 Profile 設定</a:t>
            </a:r>
            <a:endParaRPr lang="en-US" sz="1150" dirty="0"/>
          </a:p>
        </p:txBody>
      </p:sp>
      <p:sp>
        <p:nvSpPr>
          <p:cNvPr id="70" name="Shape 40">
            <a:extLst>
              <a:ext uri="{FF2B5EF4-FFF2-40B4-BE49-F238E27FC236}">
                <a16:creationId xmlns:a16="http://schemas.microsoft.com/office/drawing/2014/main" id="{478AF65B-3CC6-7711-9A1D-E740B5378028}"/>
              </a:ext>
            </a:extLst>
          </p:cNvPr>
          <p:cNvSpPr/>
          <p:nvPr/>
        </p:nvSpPr>
        <p:spPr>
          <a:xfrm>
            <a:off x="9732763" y="4809744"/>
            <a:ext cx="1874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1" name="Text 41">
            <a:extLst>
              <a:ext uri="{FF2B5EF4-FFF2-40B4-BE49-F238E27FC236}">
                <a16:creationId xmlns:a16="http://schemas.microsoft.com/office/drawing/2014/main" id="{BE496048-9B88-6828-5704-E63A531EE2F6}"/>
              </a:ext>
            </a:extLst>
          </p:cNvPr>
          <p:cNvSpPr/>
          <p:nvPr/>
        </p:nvSpPr>
        <p:spPr>
          <a:xfrm>
            <a:off x="9789660" y="4809744"/>
            <a:ext cx="1707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「EQAOPTS 檔案」欄位指向 EQAOPT member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8321040" cy="518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 dirty="0" err="1">
                <a:solidFill>
                  <a:srgbClr val="FFFFFF"/>
                </a:solidFill>
                <a:latin typeface="Cambria"/>
              </a:rPr>
              <a:t>zowe.config.json</a:t>
            </a:r>
            <a:r>
              <a:rPr sz="34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與</a:t>
            </a:r>
            <a:r>
              <a:rPr lang="zh-TW" altLang="en-US" sz="34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launch.json</a:t>
            </a:r>
            <a:r>
              <a:rPr sz="34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設定教學</a:t>
            </a:r>
            <a:endParaRPr sz="3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從建立 Team Configuration File、設定 zOpenDebug／RSE Profile，到用 TSO 帳號密碼登入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dirty="0" err="1">
                <a:solidFill>
                  <a:srgbClr val="CADCFC"/>
                </a:solidFill>
                <a:latin typeface="Calibri"/>
              </a:rPr>
              <a:t>zowe.config.json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 ‧  </a:t>
            </a:r>
            <a:r>
              <a:rPr sz="1400" b="0" i="0" dirty="0" err="1">
                <a:solidFill>
                  <a:srgbClr val="CADCFC"/>
                </a:solidFill>
                <a:latin typeface="Calibri"/>
              </a:rPr>
              <a:t>launch.json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 ‧  </a:t>
            </a:r>
            <a:r>
              <a:rPr sz="1400" b="0" i="0" dirty="0" err="1">
                <a:solidFill>
                  <a:srgbClr val="CADCFC"/>
                </a:solidFill>
                <a:latin typeface="Calibri"/>
              </a:rPr>
              <a:t>zOpenDebug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Profile </a:t>
            </a:r>
            <a:r>
              <a:rPr sz="1400" b="0" i="0" dirty="0" err="1">
                <a:solidFill>
                  <a:srgbClr val="CADCFC"/>
                </a:solidFill>
                <a:latin typeface="Calibri"/>
              </a:rPr>
              <a:t>登入</a:t>
            </a:r>
            <a:endParaRPr sz="1400" b="0" i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8B98C4"/>
                </a:solidFill>
                <a:latin typeface="Calibri"/>
              </a:rPr>
              <a:t>官方文件整理｜內部技術分享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131777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建立 Team Configuration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zowe.config.json 是儲存所有連線 Profile 的團隊設定檔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207008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在 VS Code 開啟 Zowe Explorer 面板，於 Data Sets／USS／Jobs 任一視圖點選「Add profile...」（＋號）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52342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85234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mbria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52620"/>
            <a:ext cx="4892040" cy="220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 dirty="0" err="1">
                <a:solidFill>
                  <a:srgbClr val="0F1533"/>
                </a:solidFill>
                <a:latin typeface="Calibri"/>
              </a:rPr>
              <a:t>選擇「Create</a:t>
            </a:r>
            <a:r>
              <a:rPr sz="1400" b="0" i="0" dirty="0">
                <a:solidFill>
                  <a:srgbClr val="0F1533"/>
                </a:solidFill>
                <a:latin typeface="Calibri"/>
              </a:rPr>
              <a:t> a new Team Configuration file」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097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484097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56665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選擇儲存範圍：Global（存於 ~/.zowe/zowe.config.json，任何專案皆可用）或 Project（存於目前 Git 專案的 zowe.config.json）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6695" y="1207008"/>
            <a:ext cx="5620680" cy="896453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71015" y="983533"/>
            <a:ext cx="507204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>
                <a:solidFill>
                  <a:srgbClr val="0F1533"/>
                </a:solidFill>
                <a:latin typeface="Calibri"/>
              </a:rPr>
              <a:t>建立後會產生預設值與 RSE Profile 範本；之後只要在 profiles 物件底下新增或修改各項連線設定即可，不需要每次重新初始化。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044190" y="960120"/>
            <a:ext cx="5395600" cy="2868069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181350" y="1051560"/>
            <a:ext cx="5121280" cy="27475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"$schema"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"./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zowe.schema.json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"profiles"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tso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tso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"ssh"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"ssh"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rse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rse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"zOpenDebug_1"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zOpenDebug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global_base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"base"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"defaults"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rse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rse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zOpenDebug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"zOpenDebug_1"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"base"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global_base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autoStore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7A8AC4"/>
                </a:solidFill>
                <a:latin typeface="Consolas"/>
              </a:rPr>
              <a:t>true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}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4B1D250-C12D-DF58-6874-AA2371B26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957" y="8348813"/>
            <a:ext cx="7772400" cy="475299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99FF070-2CBE-4C65-F527-E715FF3F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095" b="36447"/>
          <a:stretch>
            <a:fillRect/>
          </a:stretch>
        </p:blipFill>
        <p:spPr>
          <a:xfrm>
            <a:off x="681838" y="3094848"/>
            <a:ext cx="7871849" cy="33943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C587CF7-9C03-BEAF-2260-CF181B532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11563" y="4041648"/>
            <a:ext cx="7772400" cy="437197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01C18DA-E863-5D17-8157-54904ACA696B}"/>
              </a:ext>
            </a:extLst>
          </p:cNvPr>
          <p:cNvSpPr/>
          <p:nvPr/>
        </p:nvSpPr>
        <p:spPr>
          <a:xfrm>
            <a:off x="3755566" y="4842587"/>
            <a:ext cx="158621" cy="1504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3014AB-6A10-1003-3D95-70FDC22F5B2B}"/>
              </a:ext>
            </a:extLst>
          </p:cNvPr>
          <p:cNvSpPr/>
          <p:nvPr/>
        </p:nvSpPr>
        <p:spPr>
          <a:xfrm>
            <a:off x="3943887" y="3429000"/>
            <a:ext cx="3002752" cy="1504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3E35024-5A24-3634-8673-683E4C659C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299" r="29987" b="79205"/>
          <a:stretch>
            <a:fillRect/>
          </a:stretch>
        </p:blipFill>
        <p:spPr>
          <a:xfrm>
            <a:off x="7758546" y="4626638"/>
            <a:ext cx="3868869" cy="1267104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179E6C50-E458-CB23-37B5-4A50432868A6}"/>
              </a:ext>
            </a:extLst>
          </p:cNvPr>
          <p:cNvSpPr/>
          <p:nvPr/>
        </p:nvSpPr>
        <p:spPr>
          <a:xfrm>
            <a:off x="7796185" y="4865477"/>
            <a:ext cx="3369119" cy="1898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68695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mbria"/>
              </a:rPr>
              <a:t>zowe.config.json</a:t>
            </a:r>
            <a:r>
              <a:rPr sz="26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Cambria"/>
              </a:rPr>
              <a:t>完整範例</a:t>
            </a:r>
            <a:endParaRPr sz="2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以本次環境 10.9.8.1 為例：RSE、zOpenDebug、TSO、base 一次到位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1206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rse：連到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RSE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API，預設埠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6800，basePath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固定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rseapi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zOpenDebug_1：連到 Debug 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Service（DPS</a:t>
            </a:r>
            <a:r>
              <a:rPr sz="1350" dirty="0">
                <a:solidFill>
                  <a:srgbClr val="0F1533"/>
                </a:solidFill>
                <a:latin typeface="Calibri"/>
              </a:rPr>
              <a:t>），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dpsPort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8143、dpsContextRoot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api</a:t>
            </a:r>
            <a:r>
              <a:rPr sz="1350" dirty="0">
                <a:solidFill>
                  <a:srgbClr val="0F1533"/>
                </a:solidFill>
                <a:latin typeface="Calibri"/>
              </a:rPr>
              <a:t>/v1、dpsSecured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為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true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authenticationType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可設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basic（帳號密碼）或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token；secure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陣列列出需要存進本機安全儲存區的欄位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global_base：共用的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host／憑證設定，被其他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繼承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defaults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區塊指定每種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type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預設要用哪個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名稱</a:t>
            </a:r>
            <a:endParaRPr sz="1350" dirty="0">
              <a:solidFill>
                <a:srgbClr val="0F1533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7552" y="4553712"/>
            <a:ext cx="5620680" cy="11430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1872" y="4690872"/>
            <a:ext cx="5072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dirty="0" err="1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rejectUnauthorized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設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false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代表允許自我簽署憑證；正式環境建議改用正式憑證並設回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true，安全性更高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408029" y="1122147"/>
            <a:ext cx="4460488" cy="4343400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45189" y="1213587"/>
            <a:ext cx="4244658" cy="415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rse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"type"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rse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"properties"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"host"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"10.9.8.1"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"port"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6800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basePath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rseapi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"secure"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[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"user"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"password"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]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"zOpenDebug_1"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"type"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zOpenDebug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"properties"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"host"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"10.9.8.1"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dpsPort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8143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dpsContextRoot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api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/v1"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dpsSecured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true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authenticationType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"basic"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rejectUnauthorized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false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"secure"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[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tokenValue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]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723AD8-80DC-E590-C425-1739359932CE}"/>
              </a:ext>
            </a:extLst>
          </p:cNvPr>
          <p:cNvSpPr/>
          <p:nvPr/>
        </p:nvSpPr>
        <p:spPr>
          <a:xfrm>
            <a:off x="8447790" y="948969"/>
            <a:ext cx="3744210" cy="563897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3D29BA-00F8-5F67-E335-59265A3FA3F6}"/>
              </a:ext>
            </a:extLst>
          </p:cNvPr>
          <p:cNvSpPr txBox="1"/>
          <p:nvPr/>
        </p:nvSpPr>
        <p:spPr>
          <a:xfrm>
            <a:off x="8680202" y="22944"/>
            <a:ext cx="3257049" cy="6848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lang="en-US" sz="1000" b="1" dirty="0" err="1">
                <a:solidFill>
                  <a:srgbClr val="FFFFFF"/>
                </a:solidFill>
                <a:latin typeface="Cambria"/>
              </a:rPr>
              <a:t>完整</a:t>
            </a:r>
            <a:r>
              <a:rPr lang="zh-TW" altLang="en-US" sz="10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mbria"/>
              </a:rPr>
              <a:t>zowe.config.json</a:t>
            </a:r>
            <a:r>
              <a:rPr lang="en-US" sz="1000" b="1" dirty="0">
                <a:solidFill>
                  <a:srgbClr val="FFFFFF"/>
                </a:solidFill>
                <a:latin typeface="Cambria"/>
              </a:rPr>
              <a:t>：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endParaRPr lang="en-US" sz="650" b="1" dirty="0">
              <a:solidFill>
                <a:srgbClr val="FFFFFF"/>
              </a:solidFill>
              <a:latin typeface="Cambria"/>
            </a:endParaRP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"$schema": "./</a:t>
            </a:r>
            <a:r>
              <a:rPr sz="650" dirty="0" err="1"/>
              <a:t>zowe.schema.json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"profiles":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zosmf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zosmf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 "port": 1443, "encoding": "937"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tso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tso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"account": "", "</a:t>
            </a:r>
            <a:r>
              <a:rPr sz="650" dirty="0" err="1"/>
              <a:t>codePage</a:t>
            </a:r>
            <a:r>
              <a:rPr sz="650" dirty="0"/>
              <a:t>": "1047",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logonProcedure</a:t>
            </a:r>
            <a:r>
              <a:rPr sz="650" dirty="0"/>
              <a:t>": "IZUFPROC"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"ssh":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"ssh",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 "port": 22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rse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rse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"port": 6800, "</a:t>
            </a:r>
            <a:r>
              <a:rPr sz="650" dirty="0" err="1"/>
              <a:t>basePath</a:t>
            </a:r>
            <a:r>
              <a:rPr sz="650" dirty="0"/>
              <a:t>": "</a:t>
            </a:r>
            <a:r>
              <a:rPr sz="650" dirty="0" err="1"/>
              <a:t>rseapi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"protocol": "https", "encoding": "937",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rejectUnauthorized</a:t>
            </a:r>
            <a:r>
              <a:rPr sz="650" dirty="0"/>
              <a:t>": false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zftp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zftp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 "port": 21, "</a:t>
            </a:r>
            <a:r>
              <a:rPr sz="650" dirty="0" err="1"/>
              <a:t>secureFtp</a:t>
            </a:r>
            <a:r>
              <a:rPr sz="650" dirty="0"/>
              <a:t>": true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global_base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"base",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"host": "10.9.8.1", "</a:t>
            </a:r>
            <a:r>
              <a:rPr sz="650" dirty="0" err="1"/>
              <a:t>rejectUnauthorized</a:t>
            </a:r>
            <a:r>
              <a:rPr sz="650" dirty="0"/>
              <a:t>": false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["user", "password"]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"zOpenDebug_1":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zOpenDebug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"host": "10.9.8.1", "</a:t>
            </a:r>
            <a:r>
              <a:rPr sz="650" dirty="0" err="1"/>
              <a:t>dpsPort</a:t>
            </a:r>
            <a:r>
              <a:rPr sz="650" dirty="0"/>
              <a:t>": 8143,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dpsContextRoot</a:t>
            </a:r>
            <a:r>
              <a:rPr sz="650" dirty="0"/>
              <a:t>": "</a:t>
            </a:r>
            <a:r>
              <a:rPr sz="650" dirty="0" err="1"/>
              <a:t>api</a:t>
            </a:r>
            <a:r>
              <a:rPr sz="650" dirty="0"/>
              <a:t>/v1", "</a:t>
            </a:r>
            <a:r>
              <a:rPr sz="650" dirty="0" err="1"/>
              <a:t>dpsSecured</a:t>
            </a:r>
            <a:r>
              <a:rPr sz="650" dirty="0"/>
              <a:t>": true,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authenticationType</a:t>
            </a:r>
            <a:r>
              <a:rPr sz="650" dirty="0"/>
              <a:t>": "basic",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rejectUnauthorized</a:t>
            </a:r>
            <a:r>
              <a:rPr sz="650" dirty="0"/>
              <a:t>": false,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uuid</a:t>
            </a:r>
            <a:r>
              <a:rPr sz="650" dirty="0"/>
              <a:t>": "e4aa0912-541f-4f54-bd26-ae244e4e47ad"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["</a:t>
            </a:r>
            <a:r>
              <a:rPr sz="650" dirty="0" err="1"/>
              <a:t>tokenValue</a:t>
            </a:r>
            <a:r>
              <a:rPr sz="650" dirty="0"/>
              <a:t>"]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project_base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["user", "password"]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"defaults":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zosmf</a:t>
            </a:r>
            <a:r>
              <a:rPr sz="650" dirty="0"/>
              <a:t>": "</a:t>
            </a:r>
            <a:r>
              <a:rPr sz="650" dirty="0" err="1"/>
              <a:t>zosmf</a:t>
            </a:r>
            <a:r>
              <a:rPr sz="650" dirty="0"/>
              <a:t>", "</a:t>
            </a:r>
            <a:r>
              <a:rPr sz="650" dirty="0" err="1"/>
              <a:t>tso</a:t>
            </a:r>
            <a:r>
              <a:rPr sz="650" dirty="0"/>
              <a:t>": "</a:t>
            </a:r>
            <a:r>
              <a:rPr sz="650" dirty="0" err="1"/>
              <a:t>tso</a:t>
            </a:r>
            <a:r>
              <a:rPr sz="650" dirty="0"/>
              <a:t>", "ssh": "ssh",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rse</a:t>
            </a:r>
            <a:r>
              <a:rPr sz="650" dirty="0"/>
              <a:t>": "</a:t>
            </a:r>
            <a:r>
              <a:rPr sz="650" dirty="0" err="1"/>
              <a:t>rse</a:t>
            </a:r>
            <a:r>
              <a:rPr sz="650" dirty="0"/>
              <a:t>", "</a:t>
            </a:r>
            <a:r>
              <a:rPr sz="650" dirty="0" err="1"/>
              <a:t>zOpenDebug</a:t>
            </a:r>
            <a:r>
              <a:rPr sz="650" dirty="0"/>
              <a:t>": "zOpenDebug_1",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zftp</a:t>
            </a:r>
            <a:r>
              <a:rPr sz="650" dirty="0"/>
              <a:t>": "</a:t>
            </a:r>
            <a:r>
              <a:rPr sz="650" dirty="0" err="1"/>
              <a:t>zftp</a:t>
            </a:r>
            <a:r>
              <a:rPr sz="650" dirty="0"/>
              <a:t>", "base": "</a:t>
            </a:r>
            <a:r>
              <a:rPr sz="650" dirty="0" err="1"/>
              <a:t>global_base</a:t>
            </a:r>
            <a:r>
              <a:rPr sz="650" dirty="0"/>
              <a:t>"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"</a:t>
            </a:r>
            <a:r>
              <a:rPr sz="650" dirty="0" err="1"/>
              <a:t>autoStore</a:t>
            </a:r>
            <a:r>
              <a:rPr sz="650" dirty="0"/>
              <a:t>": true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}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FD2A269-9450-5690-24AB-56842CB7DEFD}"/>
              </a:ext>
            </a:extLst>
          </p:cNvPr>
          <p:cNvSpPr/>
          <p:nvPr/>
        </p:nvSpPr>
        <p:spPr>
          <a:xfrm>
            <a:off x="295352" y="7450554"/>
            <a:ext cx="37033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A2F443-73CC-033F-933F-FF422D9CF2C5}"/>
              </a:ext>
            </a:extLst>
          </p:cNvPr>
          <p:cNvSpPr/>
          <p:nvPr/>
        </p:nvSpPr>
        <p:spPr>
          <a:xfrm>
            <a:off x="295352" y="7450554"/>
            <a:ext cx="73152" cy="2057400"/>
          </a:xfrm>
          <a:prstGeom prst="rect">
            <a:avLst/>
          </a:prstGeom>
          <a:solidFill>
            <a:srgbClr val="3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BE015C-CE0A-6A5D-78DE-7E452875480B}"/>
              </a:ext>
            </a:extLst>
          </p:cNvPr>
          <p:cNvSpPr txBox="1"/>
          <p:nvPr/>
        </p:nvSpPr>
        <p:spPr>
          <a:xfrm>
            <a:off x="496520" y="7569425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Connection Profiles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195274-9E66-E6C4-D41D-528AEEF21313}"/>
              </a:ext>
            </a:extLst>
          </p:cNvPr>
          <p:cNvSpPr txBox="1"/>
          <p:nvPr/>
        </p:nvSpPr>
        <p:spPr>
          <a:xfrm>
            <a:off x="496520" y="7926042"/>
            <a:ext cx="3319272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zosmf  •  z/OSMF — HTTPS 1443  •  Encoding 937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tso    •  TSO        — Code Page 1047  •  IZUFPROC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ssh    •  SSH        — Port 22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rse    •  RSE API    — HTTPS 6800  •  Encoding 937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zftp   •  z/OS FTP   — Port 21  •  Secure FTP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B0E55DD-E0D8-DBA0-F882-972FAF8E7EC5}"/>
              </a:ext>
            </a:extLst>
          </p:cNvPr>
          <p:cNvSpPr/>
          <p:nvPr/>
        </p:nvSpPr>
        <p:spPr>
          <a:xfrm>
            <a:off x="295352" y="9681690"/>
            <a:ext cx="37033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03AAD7-8AD3-5CBE-8E00-2F8CCEB8F73B}"/>
              </a:ext>
            </a:extLst>
          </p:cNvPr>
          <p:cNvSpPr/>
          <p:nvPr/>
        </p:nvSpPr>
        <p:spPr>
          <a:xfrm>
            <a:off x="295352" y="9681690"/>
            <a:ext cx="73152" cy="1874519"/>
          </a:xfrm>
          <a:prstGeom prst="rect">
            <a:avLst/>
          </a:prstGeom>
          <a:solidFill>
            <a:srgbClr val="5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A59D08-07C7-7D1B-AE81-F91B6FD006CD}"/>
              </a:ext>
            </a:extLst>
          </p:cNvPr>
          <p:cNvSpPr txBox="1"/>
          <p:nvPr/>
        </p:nvSpPr>
        <p:spPr>
          <a:xfrm>
            <a:off x="496520" y="9800562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Debug &amp; Base Profiles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7E74E8-D22D-7849-AF8F-24FBF62EA0FE}"/>
              </a:ext>
            </a:extLst>
          </p:cNvPr>
          <p:cNvSpPr txBox="1"/>
          <p:nvPr/>
        </p:nvSpPr>
        <p:spPr>
          <a:xfrm>
            <a:off x="496520" y="10157178"/>
            <a:ext cx="3319272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zOpenDebug_1 • DPS 8143 • HTTPS • Basic Auth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global_base  • Host 10.9.8.1 • TLS verification disabled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project_base • Project-level user/password storage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9613A45-E599-BE99-204E-4FF8990C0CE1}"/>
              </a:ext>
            </a:extLst>
          </p:cNvPr>
          <p:cNvSpPr/>
          <p:nvPr/>
        </p:nvSpPr>
        <p:spPr>
          <a:xfrm>
            <a:off x="4291280" y="7450554"/>
            <a:ext cx="2834640" cy="4105656"/>
          </a:xfrm>
          <a:prstGeom prst="roundRect">
            <a:avLst/>
          </a:prstGeom>
          <a:solidFill>
            <a:srgbClr val="EDF4FA"/>
          </a:solidFill>
          <a:ln>
            <a:solidFill>
              <a:srgbClr val="C4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97B945-E53E-3889-911C-942A97A94861}"/>
              </a:ext>
            </a:extLst>
          </p:cNvPr>
          <p:cNvSpPr txBox="1"/>
          <p:nvPr/>
        </p:nvSpPr>
        <p:spPr>
          <a:xfrm>
            <a:off x="4529024" y="767915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How the configuration works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33A238F-C815-FBA5-FA5E-7C8DE25D5E88}"/>
              </a:ext>
            </a:extLst>
          </p:cNvPr>
          <p:cNvSpPr/>
          <p:nvPr/>
        </p:nvSpPr>
        <p:spPr>
          <a:xfrm>
            <a:off x="4748480" y="8145498"/>
            <a:ext cx="19019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3946"/>
                </a:solidFill>
              </a:defRPr>
            </a:pPr>
            <a:r>
              <a:t>zowe.config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2BD9565-B0BA-C350-E816-074DDC7B14EE}"/>
              </a:ext>
            </a:extLst>
          </p:cNvPr>
          <p:cNvSpPr/>
          <p:nvPr/>
        </p:nvSpPr>
        <p:spPr>
          <a:xfrm>
            <a:off x="4748480" y="8968458"/>
            <a:ext cx="19019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7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3946"/>
                </a:solidFill>
              </a:defRPr>
            </a:pPr>
            <a:r>
              <a:t>Profiles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576BF86-590F-64A2-AA76-E77F75BA3F0E}"/>
              </a:ext>
            </a:extLst>
          </p:cNvPr>
          <p:cNvSpPr/>
          <p:nvPr/>
        </p:nvSpPr>
        <p:spPr>
          <a:xfrm>
            <a:off x="4748480" y="9791418"/>
            <a:ext cx="19019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76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3946"/>
                </a:solidFill>
              </a:defRPr>
            </a:pPr>
            <a:r>
              <a:t>Defaults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E78B039-324B-F294-2A3D-3C045BCA570E}"/>
              </a:ext>
            </a:extLst>
          </p:cNvPr>
          <p:cNvSpPr/>
          <p:nvPr/>
        </p:nvSpPr>
        <p:spPr>
          <a:xfrm>
            <a:off x="4748480" y="10614378"/>
            <a:ext cx="19019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5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3946"/>
                </a:solidFill>
              </a:defRPr>
            </a:pPr>
            <a:r>
              <a:t>CLI / Explorer</a:t>
            </a:r>
          </a:p>
        </p:txBody>
      </p:sp>
      <p:cxnSp>
        <p:nvCxnSpPr>
          <p:cNvPr id="30" name="Connector 17">
            <a:extLst>
              <a:ext uri="{FF2B5EF4-FFF2-40B4-BE49-F238E27FC236}">
                <a16:creationId xmlns:a16="http://schemas.microsoft.com/office/drawing/2014/main" id="{2400CBCE-0A93-22C4-8D9F-7D6DAA08E55B}"/>
              </a:ext>
            </a:extLst>
          </p:cNvPr>
          <p:cNvCxnSpPr/>
          <p:nvPr/>
        </p:nvCxnSpPr>
        <p:spPr>
          <a:xfrm>
            <a:off x="5699456" y="8675850"/>
            <a:ext cx="0" cy="292608"/>
          </a:xfrm>
          <a:prstGeom prst="line">
            <a:avLst/>
          </a:prstGeom>
          <a:ln w="19050">
            <a:solidFill>
              <a:srgbClr val="8C9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18">
            <a:extLst>
              <a:ext uri="{FF2B5EF4-FFF2-40B4-BE49-F238E27FC236}">
                <a16:creationId xmlns:a16="http://schemas.microsoft.com/office/drawing/2014/main" id="{14DA2E40-986A-F3ED-39A3-C738F2734C39}"/>
              </a:ext>
            </a:extLst>
          </p:cNvPr>
          <p:cNvCxnSpPr/>
          <p:nvPr/>
        </p:nvCxnSpPr>
        <p:spPr>
          <a:xfrm>
            <a:off x="5699456" y="9498810"/>
            <a:ext cx="0" cy="292608"/>
          </a:xfrm>
          <a:prstGeom prst="line">
            <a:avLst/>
          </a:prstGeom>
          <a:ln w="19050">
            <a:solidFill>
              <a:srgbClr val="8C9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9">
            <a:extLst>
              <a:ext uri="{FF2B5EF4-FFF2-40B4-BE49-F238E27FC236}">
                <a16:creationId xmlns:a16="http://schemas.microsoft.com/office/drawing/2014/main" id="{EEA77282-3F1D-01E6-BCF7-A671B1D9A1C4}"/>
              </a:ext>
            </a:extLst>
          </p:cNvPr>
          <p:cNvCxnSpPr/>
          <p:nvPr/>
        </p:nvCxnSpPr>
        <p:spPr>
          <a:xfrm>
            <a:off x="5699456" y="10321769"/>
            <a:ext cx="0" cy="292609"/>
          </a:xfrm>
          <a:prstGeom prst="line">
            <a:avLst/>
          </a:prstGeom>
          <a:ln w="19050">
            <a:solidFill>
              <a:srgbClr val="8C9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E4AD206-3D3B-C310-8B86-CF6A0B240363}"/>
              </a:ext>
            </a:extLst>
          </p:cNvPr>
          <p:cNvSpPr txBox="1"/>
          <p:nvPr/>
        </p:nvSpPr>
        <p:spPr>
          <a:xfrm>
            <a:off x="4529024" y="11236170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95287"/>
                </a:solidFill>
              </a:defRPr>
            </a:pPr>
            <a:r>
              <a:t>autoStore: true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44DA99-6D36-2290-575E-DC9F9BDDDF95}"/>
              </a:ext>
            </a:extLst>
          </p:cNvPr>
          <p:cNvSpPr txBox="1"/>
          <p:nvPr/>
        </p:nvSpPr>
        <p:spPr>
          <a:xfrm>
            <a:off x="4529024" y="1147391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78"/>
                </a:solidFill>
              </a:defRPr>
            </a:pPr>
            <a:r>
              <a:t>Credentials can be kept in secure fields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D98C069-039C-9788-2776-5F6CB7112AD9}"/>
              </a:ext>
            </a:extLst>
          </p:cNvPr>
          <p:cNvSpPr/>
          <p:nvPr/>
        </p:nvSpPr>
        <p:spPr>
          <a:xfrm>
            <a:off x="7363663" y="7450554"/>
            <a:ext cx="409651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CEE027-8DFB-B7B1-4F87-7D7BC1848343}"/>
              </a:ext>
            </a:extLst>
          </p:cNvPr>
          <p:cNvSpPr/>
          <p:nvPr/>
        </p:nvSpPr>
        <p:spPr>
          <a:xfrm>
            <a:off x="7363663" y="7450554"/>
            <a:ext cx="73152" cy="2057400"/>
          </a:xfrm>
          <a:prstGeom prst="rect">
            <a:avLst/>
          </a:prstGeom>
          <a:solidFill>
            <a:srgbClr val="876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954CC6-EFEA-C3C6-0531-A22A55B15611}"/>
              </a:ext>
            </a:extLst>
          </p:cNvPr>
          <p:cNvSpPr txBox="1"/>
          <p:nvPr/>
        </p:nvSpPr>
        <p:spPr>
          <a:xfrm>
            <a:off x="7564832" y="7569425"/>
            <a:ext cx="3730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Default Profiles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DA7F00-1758-3FAE-7F6E-A21B1AACE22B}"/>
              </a:ext>
            </a:extLst>
          </p:cNvPr>
          <p:cNvSpPr txBox="1"/>
          <p:nvPr/>
        </p:nvSpPr>
        <p:spPr>
          <a:xfrm>
            <a:off x="7564832" y="7926042"/>
            <a:ext cx="371246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zosmf → zosmf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tso → tso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ssh → ssh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rse → rse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zOpenDebug → zOpenDebug_1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zftp → zftp  |  base → global_base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4D0E01E-6F61-1329-3C77-EACF64AC8273}"/>
              </a:ext>
            </a:extLst>
          </p:cNvPr>
          <p:cNvSpPr/>
          <p:nvPr/>
        </p:nvSpPr>
        <p:spPr>
          <a:xfrm>
            <a:off x="7363663" y="9681690"/>
            <a:ext cx="409651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6C989CD-58DB-2EA7-8880-8BCACE5F0845}"/>
              </a:ext>
            </a:extLst>
          </p:cNvPr>
          <p:cNvSpPr/>
          <p:nvPr/>
        </p:nvSpPr>
        <p:spPr>
          <a:xfrm>
            <a:off x="7363663" y="9681690"/>
            <a:ext cx="73152" cy="1874519"/>
          </a:xfrm>
          <a:prstGeom prst="rect">
            <a:avLst/>
          </a:prstGeom>
          <a:solidFill>
            <a:srgbClr val="AD5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2F30BE-7AE1-297C-5107-7091E0657636}"/>
              </a:ext>
            </a:extLst>
          </p:cNvPr>
          <p:cNvSpPr txBox="1"/>
          <p:nvPr/>
        </p:nvSpPr>
        <p:spPr>
          <a:xfrm>
            <a:off x="7564832" y="9800562"/>
            <a:ext cx="3730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Security / TLS Notes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082B46-2C07-FAB2-5409-55E554D7923C}"/>
              </a:ext>
            </a:extLst>
          </p:cNvPr>
          <p:cNvSpPr txBox="1"/>
          <p:nvPr/>
        </p:nvSpPr>
        <p:spPr>
          <a:xfrm>
            <a:off x="7564832" y="10157178"/>
            <a:ext cx="3712464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Secure fields: global_base user/password; project_base user/password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zOpenDebug_1 uses tokenValue as a secure field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rejectUnauthorized: false is configured for base, RSE and zOpenDebug</a:t>
            </a:r>
          </a:p>
        </p:txBody>
      </p:sp>
    </p:spTree>
    <p:extLst>
      <p:ext uri="{BB962C8B-B14F-4D97-AF65-F5344CB8AC3E}">
        <p14:creationId xmlns:p14="http://schemas.microsoft.com/office/powerpoint/2010/main" val="1601820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設定 zOpenDebug Profile 屬性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zOpenDebug Profile 是連到 Debug Engine 錄製與執行測試的依據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2070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在 profiles 底下新增一個物件（如 zOpenDebug_1），type 填 zOpenDebug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79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179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520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properties 填入 host、dpsPort（預設 8143）、dpsContextRoot（api/v1）、dpsSecured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24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12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0970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uuid 是這個 Profile 在 Debug Engine 端的識別碼，第一次可先留給系統自動產生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69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069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420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存檔後，Zowe Explorer 會自動重新整理，「Z/OS DEBUGGER PROFILES」面板就會看到 zOpenDebug_1</a:t>
            </a:r>
          </a:p>
        </p:txBody>
      </p:sp>
      <p:pic>
        <p:nvPicPr>
          <p:cNvPr id="20" name="Picture 19" descr="螢幕擷取畫面_2026-09-14_092636.png"/>
          <p:cNvPicPr>
            <a:picLocks noChangeAspect="1"/>
          </p:cNvPicPr>
          <p:nvPr/>
        </p:nvPicPr>
        <p:blipFill>
          <a:blip r:embed="rId2"/>
          <a:srcRect r="33010"/>
          <a:stretch>
            <a:fillRect/>
          </a:stretch>
        </p:blipFill>
        <p:spPr>
          <a:xfrm>
            <a:off x="6156962" y="1234440"/>
            <a:ext cx="5936669" cy="4756567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F4C402D-AA8C-206B-814A-DE4A22D4F6DC}"/>
              </a:ext>
            </a:extLst>
          </p:cNvPr>
          <p:cNvSpPr/>
          <p:nvPr/>
        </p:nvSpPr>
        <p:spPr>
          <a:xfrm>
            <a:off x="8885160" y="2752365"/>
            <a:ext cx="3217996" cy="11771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67843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3DF7C5-108E-0E92-4A5B-6495DB58A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03" y="1418473"/>
            <a:ext cx="9237475" cy="46885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04DD0A-6D93-1F9F-BF6E-38FEAB2FF592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74173-DCC1-42FB-4002-4778BC2D8006}"/>
              </a:ext>
            </a:extLst>
          </p:cNvPr>
          <p:cNvSpPr txBox="1"/>
          <p:nvPr/>
        </p:nvSpPr>
        <p:spPr>
          <a:xfrm>
            <a:off x="502920" y="161133"/>
            <a:ext cx="11185855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mbria"/>
              </a:rPr>
              <a:t>設定</a:t>
            </a:r>
            <a:r>
              <a:rPr sz="26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2600" b="1" i="0" dirty="0">
                <a:solidFill>
                  <a:srgbClr val="FFFFFF"/>
                </a:solidFill>
                <a:latin typeface="Cambria"/>
              </a:rPr>
              <a:t>proxy support </a:t>
            </a:r>
            <a:r>
              <a:rPr lang="en-US" sz="2600" b="1" i="0" dirty="0" err="1">
                <a:solidFill>
                  <a:srgbClr val="FFFFFF"/>
                </a:solidFill>
                <a:latin typeface="Cambria"/>
              </a:rPr>
              <a:t>為</a:t>
            </a:r>
            <a:r>
              <a:rPr lang="en-US" sz="2600" b="1" dirty="0">
                <a:solidFill>
                  <a:srgbClr val="FFFFFF"/>
                </a:solidFill>
                <a:latin typeface="Cambria"/>
              </a:rPr>
              <a:t> off</a:t>
            </a:r>
            <a:endParaRPr sz="2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2C150-BDC9-0F18-AE93-E1EDC6898575}"/>
              </a:ext>
            </a:extLst>
          </p:cNvPr>
          <p:cNvSpPr txBox="1"/>
          <p:nvPr/>
        </p:nvSpPr>
        <p:spPr>
          <a:xfrm>
            <a:off x="502920" y="632217"/>
            <a:ext cx="1118585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dirty="0">
                <a:solidFill>
                  <a:srgbClr val="CADCFC"/>
                </a:solidFill>
                <a:latin typeface="Calibri"/>
              </a:rPr>
              <a:t>z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E1D1A-D8EC-84EA-B0A3-77BE5693865A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535FC-C6DE-41E8-E0B1-FEC998E3DDF9}"/>
              </a:ext>
            </a:extLst>
          </p:cNvPr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9B6DD2-F0B9-C8E6-84F5-9C23817DB45D}"/>
              </a:ext>
            </a:extLst>
          </p:cNvPr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182187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右鍵 zOpenDebug_1 → 登入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用 TSO 帳號密碼登入 Debug Profile Service，取得存取權杖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螢幕擷取畫面_2026-09-11_141049.png"/>
          <p:cNvPicPr>
            <a:picLocks noChangeAspect="1"/>
          </p:cNvPicPr>
          <p:nvPr/>
        </p:nvPicPr>
        <p:blipFill>
          <a:blip r:embed="rId2"/>
          <a:srcRect r="33701"/>
          <a:stretch>
            <a:fillRect/>
          </a:stretch>
        </p:blipFill>
        <p:spPr>
          <a:xfrm>
            <a:off x="457200" y="1426464"/>
            <a:ext cx="5080000" cy="4108608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pic>
        <p:nvPicPr>
          <p:cNvPr id="9" name="Picture 8" descr="178954895386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0805" y="4780447"/>
            <a:ext cx="4791211" cy="3111818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806440"/>
            <a:ext cx="1963420" cy="310896"/>
          </a:xfrm>
          <a:prstGeom prst="round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9634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步驟一：右鍵登入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5806440"/>
            <a:ext cx="1963420" cy="31089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9632" y="5806440"/>
            <a:ext cx="19634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步驟二：登入成功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1120" y="5833872"/>
            <a:ext cx="347844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0F1533"/>
                </a:solidFill>
                <a:latin typeface="Calibri"/>
              </a:rPr>
              <a:t>在「Z/OS DEBUGGER PROFILES」面板對 zOpenDebug_1 按右鍵，選擇「登入」，輸入平常登入主機用的 TSO 使用者名稱與密碼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3032" y="5833872"/>
            <a:ext cx="3478440" cy="378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 dirty="0" err="1">
                <a:solidFill>
                  <a:srgbClr val="0F1533"/>
                </a:solidFill>
                <a:latin typeface="Calibri"/>
              </a:rPr>
              <a:t>認證成功後帳密會存入本機安全儲存區，Profile</a:t>
            </a:r>
            <a:r>
              <a:rPr sz="115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F1533"/>
                </a:solidFill>
                <a:latin typeface="Calibri"/>
              </a:rPr>
              <a:t>節點會顯示CONNECTED</a:t>
            </a:r>
            <a:r>
              <a:rPr lang="en-US" sz="1150" b="0" i="0" dirty="0">
                <a:solidFill>
                  <a:srgbClr val="0F1533"/>
                </a:solidFill>
                <a:latin typeface="Calibri"/>
              </a:rPr>
              <a:t> or </a:t>
            </a:r>
            <a:r>
              <a:rPr lang="en-US" sz="1150" b="0" i="0" dirty="0" err="1">
                <a:solidFill>
                  <a:srgbClr val="0F1533"/>
                </a:solidFill>
                <a:latin typeface="Calibri"/>
              </a:rPr>
              <a:t>警告</a:t>
            </a:r>
            <a:r>
              <a:rPr sz="1150" b="0" i="0" dirty="0" err="1">
                <a:solidFill>
                  <a:srgbClr val="0F1533"/>
                </a:solidFill>
                <a:latin typeface="Calibri"/>
              </a:rPr>
              <a:t>，之後不需每次重新輸入</a:t>
            </a:r>
            <a:endParaRPr sz="1150" b="0" i="0" dirty="0">
              <a:solidFill>
                <a:srgbClr val="0F1533"/>
              </a:solidFill>
              <a:latin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141A09-AF91-BDD8-C9D2-11053B316A87}"/>
              </a:ext>
            </a:extLst>
          </p:cNvPr>
          <p:cNvSpPr/>
          <p:nvPr/>
        </p:nvSpPr>
        <p:spPr>
          <a:xfrm>
            <a:off x="3086100" y="1697354"/>
            <a:ext cx="2451100" cy="1212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321115-DCFC-C907-4901-8A8A0A65AD60}"/>
              </a:ext>
            </a:extLst>
          </p:cNvPr>
          <p:cNvSpPr/>
          <p:nvPr/>
        </p:nvSpPr>
        <p:spPr>
          <a:xfrm>
            <a:off x="457200" y="4356980"/>
            <a:ext cx="2359742" cy="1339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F58004F-6113-60D8-58E1-979F841E6C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295"/>
          <a:stretch>
            <a:fillRect/>
          </a:stretch>
        </p:blipFill>
        <p:spPr>
          <a:xfrm>
            <a:off x="5814727" y="1395885"/>
            <a:ext cx="5806355" cy="416976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B8F9B4A-2323-57B2-FFB4-A1E0583110EB}"/>
              </a:ext>
            </a:extLst>
          </p:cNvPr>
          <p:cNvSpPr/>
          <p:nvPr/>
        </p:nvSpPr>
        <p:spPr>
          <a:xfrm>
            <a:off x="5989560" y="3747558"/>
            <a:ext cx="2173492" cy="130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91500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登入疑難排解：自我簽署憑證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看到 self signed certificate 錯誤時，檢查 http.proxySupport 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29</a:t>
            </a:r>
          </a:p>
        </p:txBody>
      </p:sp>
      <p:pic>
        <p:nvPicPr>
          <p:cNvPr id="8" name="Picture 7" descr="螢幕擷取畫面_2026-09-14_09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497900"/>
            <a:ext cx="5135217" cy="2633728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pic>
        <p:nvPicPr>
          <p:cNvPr id="9" name="Picture 8" descr="螢幕擷取畫面_2026-09-14_092232.png"/>
          <p:cNvPicPr>
            <a:picLocks noChangeAspect="1"/>
          </p:cNvPicPr>
          <p:nvPr/>
        </p:nvPicPr>
        <p:blipFill>
          <a:blip r:embed="rId3"/>
          <a:srcRect r="9626"/>
          <a:stretch>
            <a:fillRect/>
          </a:stretch>
        </p:blipFill>
        <p:spPr>
          <a:xfrm>
            <a:off x="6199632" y="1497900"/>
            <a:ext cx="5532120" cy="3105282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4450000"/>
            <a:ext cx="2500000" cy="310896"/>
          </a:xfrm>
          <a:prstGeom prst="round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450000"/>
            <a:ext cx="2500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錯誤訊息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930000"/>
            <a:ext cx="2500000" cy="31089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9632" y="4930000"/>
            <a:ext cx="2500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設定 http.proxySupport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30000"/>
            <a:ext cx="553212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0F1533"/>
                </a:solidFill>
                <a:latin typeface="Calibri"/>
              </a:rPr>
              <a:t>EQAVS2064W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連接至</a:t>
            </a:r>
            <a:r>
              <a:rPr sz="1200" b="0" i="0" dirty="0">
                <a:solidFill>
                  <a:srgbClr val="0F1533"/>
                </a:solidFill>
                <a:latin typeface="Calibri"/>
              </a:rPr>
              <a:t> IBM z/OS Debugger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主機服務時發生錯誤：self</a:t>
            </a:r>
            <a:r>
              <a:rPr sz="1200" b="0" i="0" dirty="0">
                <a:solidFill>
                  <a:srgbClr val="0F1533"/>
                </a:solidFill>
                <a:latin typeface="Calibri"/>
              </a:rPr>
              <a:t> signed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certificate；若此錯誤與憑證有關，請嘗試變更</a:t>
            </a:r>
            <a:r>
              <a:rPr sz="120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http.proxySupport</a:t>
            </a:r>
            <a:r>
              <a:rPr sz="120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設定的值</a:t>
            </a:r>
            <a:endParaRPr sz="1200" b="0" i="0" dirty="0">
              <a:solidFill>
                <a:srgbClr val="0F1533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99632" y="5320000"/>
            <a:ext cx="5532120" cy="11500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5457160"/>
            <a:ext cx="4983480" cy="875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>
                <a:solidFill>
                  <a:srgbClr val="0F1533"/>
                </a:solidFill>
                <a:latin typeface="Calibri"/>
              </a:rPr>
              <a:t>在 VS Code 設定搜尋 http.proxySupport，將值改為 off 再重新登入，多半就能解決自我簽署憑證造成的連線錯誤。</a:t>
            </a:r>
          </a:p>
        </p:txBody>
      </p:sp>
    </p:spTree>
    <p:extLst>
      <p:ext uri="{BB962C8B-B14F-4D97-AF65-F5344CB8AC3E}">
        <p14:creationId xmlns:p14="http://schemas.microsoft.com/office/powerpoint/2010/main" val="3659603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mbria"/>
              </a:rPr>
              <a:t>launch.json</a:t>
            </a:r>
            <a:r>
              <a:rPr sz="2600" b="1" i="0" dirty="0">
                <a:solidFill>
                  <a:srgbClr val="FFFFFF"/>
                </a:solidFill>
                <a:latin typeface="Cambria"/>
              </a:rPr>
              <a:t> — Launch </a:t>
            </a:r>
            <a:r>
              <a:rPr sz="2600" b="1" i="0" dirty="0" err="1">
                <a:solidFill>
                  <a:srgbClr val="FFFFFF"/>
                </a:solidFill>
                <a:latin typeface="Cambria"/>
              </a:rPr>
              <a:t>型別</a:t>
            </a:r>
            <a:endParaRPr sz="2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啟動並直接除錯一個 z/OS 應用程式（自動觸發 Debug Profile）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394960" cy="21236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connection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指向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zowe.config.json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裡的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zOpenDebug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名稱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指定要自動啟用／停用的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Debug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Profile（如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PROFILE-1），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系統會在程式啟動前自動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Activate，除錯連上後自動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Inactivate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applicationLaunch.commandLine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是用來啟動應用程式的客端指令，常見用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zowe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rse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submit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送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JCL，或用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curl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呼叫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REST API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terminateAndAbend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設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true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時，按下終止鈕會讓程式視同異常中斷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trace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設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true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可在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Debug Console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看到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IDE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與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Remote Debug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Service之間的通訊追蹤，方便排錯</a:t>
            </a:r>
            <a:endParaRPr sz="1350" dirty="0">
              <a:solidFill>
                <a:srgbClr val="0F1533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98467" y="1078992"/>
            <a:ext cx="5669280" cy="3088422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35627" y="1170432"/>
            <a:ext cx="53949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"type"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zOpenDebug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"request"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"launch"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"name"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啟動並除錯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 z/OS 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應用程式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"connection"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zowe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 "name"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"zOpenDebug_1"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 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"profile"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"PROFILE-1"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applicationLaunch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commandLine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zowe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rse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 submit data-set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9CE39C"/>
                </a:solidFill>
                <a:latin typeface="Consolas"/>
              </a:rPr>
              <a:t>      \"AZARLN.#TEST.JCL(DBG)\""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terminateAndAbend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true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"trace"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true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42813"/>
            <a:ext cx="5669280" cy="1139662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284070"/>
            <a:ext cx="5120640" cy="1335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dirty="0" err="1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執行方式：命令選擇區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Debug: Select and Start Debugging →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選這個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launch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設定，或在執行檢視上方下拉選單選好後按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F5。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9E66A1-106C-06AF-E9E9-9E62ED4CF768}"/>
              </a:ext>
            </a:extLst>
          </p:cNvPr>
          <p:cNvSpPr txBox="1"/>
          <p:nvPr/>
        </p:nvSpPr>
        <p:spPr>
          <a:xfrm>
            <a:off x="6172200" y="6073711"/>
            <a:ext cx="6101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3"/>
              </a:rPr>
              <a:t>https://www.ibm.com/docs/zh-tw/developer-for-zos/16.0.x?topic=application-starting-interactive-debug-session </a:t>
            </a:r>
          </a:p>
          <a:p>
            <a:r>
              <a:rPr lang="en-TW" sz="1000" dirty="0">
                <a:hlinkClick r:id="rId3"/>
              </a:rPr>
              <a:t>https://www.ibm.com/docs/en/wdfrhcw/1.4.0?topic=applications-debugging-your-application</a:t>
            </a:r>
            <a:endParaRPr lang="en-TW" sz="1000" dirty="0"/>
          </a:p>
        </p:txBody>
      </p:sp>
    </p:spTree>
    <p:extLst>
      <p:ext uri="{BB962C8B-B14F-4D97-AF65-F5344CB8AC3E}">
        <p14:creationId xmlns:p14="http://schemas.microsoft.com/office/powerpoint/2010/main" val="2585245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mbria"/>
              </a:rPr>
              <a:t>launch.json</a:t>
            </a:r>
            <a:r>
              <a:rPr sz="2600" b="1" i="0" dirty="0">
                <a:solidFill>
                  <a:srgbClr val="FFFFFF"/>
                </a:solidFill>
                <a:latin typeface="Cambria"/>
              </a:rPr>
              <a:t> — Attach </a:t>
            </a:r>
            <a:r>
              <a:rPr sz="2600" b="1" i="0" dirty="0" err="1">
                <a:solidFill>
                  <a:srgbClr val="FFFFFF"/>
                </a:solidFill>
                <a:latin typeface="Cambria"/>
              </a:rPr>
              <a:t>型別</a:t>
            </a:r>
            <a:endParaRPr sz="2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列出停放在主機上的除錯階段作業，並連上任一筆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120640" cy="3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適用情境：應用程式已用其他方式啟動（如手動送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JCL），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只需要把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UI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接上停放（Parked）的除錯階段作業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request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要設為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attach，而非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launch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allSessions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可篩選只顯示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Parked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階段作業，預設會同時顯示Parked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與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Active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5.6.8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版之後，z</a:t>
            </a:r>
            <a:r>
              <a:rPr sz="1350" dirty="0">
                <a:solidFill>
                  <a:srgbClr val="0F1533"/>
                </a:solidFill>
                <a:latin typeface="Calibri"/>
              </a:rPr>
              <a:t>/OS Debugger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階段作業會自動連線；若停用了自動連線，就會跳出選取清單讓你手動挑選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憑證為自我簽署時，記得加上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ignoreCertificateErrors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搭配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secure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234440"/>
            <a:ext cx="5669280" cy="3200000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25880"/>
            <a:ext cx="5394960" cy="3017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>
                <a:solidFill>
                  <a:srgbClr val="8FD1FF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"type"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"zOpenDebug"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"request"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"attach"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"name"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"列出停放的除錯階段作業"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"connection"</a:t>
            </a:r>
            <a:r>
              <a:rPr sz="1150">
                <a:solidFill>
                  <a:srgbClr val="8FD1FF"/>
                </a:solidFill>
                <a:latin typeface="Consolas"/>
              </a:rPr>
              <a:t>: { </a:t>
            </a:r>
            <a:r>
              <a:rPr sz="1150">
                <a:solidFill>
                  <a:srgbClr val="FFD479"/>
                </a:solidFill>
                <a:latin typeface="Consolas"/>
              </a:rPr>
              <a:t>"type"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"zowe"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   "name"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"zOpenDebug_1"</a:t>
            </a:r>
            <a:r>
              <a:rPr sz="1150">
                <a:solidFill>
                  <a:srgbClr val="8FD1FF"/>
                </a:solidFill>
                <a:latin typeface="Consolas"/>
              </a:rPr>
              <a:t> },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"allSessions"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7A8AC4"/>
                </a:solidFill>
                <a:latin typeface="Consolas"/>
              </a:rPr>
              <a:t>false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"trace"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7A8AC4"/>
                </a:solidFill>
                <a:latin typeface="Consolas"/>
              </a:rPr>
              <a:t>true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D1FF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620000"/>
            <a:ext cx="5669280" cy="19400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4757160"/>
            <a:ext cx="5120640" cy="1665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>
                <a:solidFill>
                  <a:srgbClr val="0F1533"/>
                </a:solidFill>
                <a:latin typeface="Calibri"/>
              </a:rPr>
              <a:t>在 Debug Console 會列出像「30 Parked USER123 TBND009」的清單；IBM Z Open Debug 2.0.0 以上搭配 z/OS Debugger 15.0.4 以上，會直接跳出選取視窗讓你點選要連的那一筆。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D9ED28-B23C-3C42-184A-4D9692DC9E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42" r="-538" b="43066"/>
          <a:stretch>
            <a:fillRect/>
          </a:stretch>
        </p:blipFill>
        <p:spPr>
          <a:xfrm>
            <a:off x="365760" y="4031411"/>
            <a:ext cx="5390664" cy="24699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80F4F6-7F9E-3155-B801-99F44D601531}"/>
              </a:ext>
            </a:extLst>
          </p:cNvPr>
          <p:cNvSpPr txBox="1"/>
          <p:nvPr/>
        </p:nvSpPr>
        <p:spPr>
          <a:xfrm>
            <a:off x="365760" y="3757091"/>
            <a:ext cx="4585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1400" b="1" dirty="0">
                <a:solidFill>
                  <a:schemeClr val="accent1"/>
                </a:solidFill>
              </a:rPr>
              <a:t>完整</a:t>
            </a:r>
            <a:r>
              <a:rPr lang="zh-TW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TW" sz="1400" b="1" dirty="0" err="1">
                <a:solidFill>
                  <a:schemeClr val="accent1"/>
                </a:solidFill>
              </a:rPr>
              <a:t>launch.json</a:t>
            </a:r>
            <a:r>
              <a:rPr lang="en-US" altLang="zh-TW" sz="1400" b="1" dirty="0">
                <a:solidFill>
                  <a:schemeClr val="accent1"/>
                </a:solidFill>
              </a:rPr>
              <a:t> </a:t>
            </a:r>
            <a:r>
              <a:rPr lang="en-TW" sz="1400" b="1" dirty="0">
                <a:solidFill>
                  <a:schemeClr val="accent1"/>
                </a:solidFill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822754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 Debug Profile（PROFILE-1）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VS Code「Z/OS DEBUGGER PROFILES」面板逐步設定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721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9" name="Text 7"/>
          <p:cNvSpPr/>
          <p:nvPr/>
        </p:nvSpPr>
        <p:spPr>
          <a:xfrm>
            <a:off x="320040" y="1372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1344744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在左側 Zowe Explorer 樹狀圖找到「Z/OS DEBUGGER PROFILES」，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 Profiles → Non-CICS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底下右鍵建立一個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Profile，命名為 PROFILE-1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26287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12" name="Text 10"/>
          <p:cNvSpPr/>
          <p:nvPr/>
        </p:nvSpPr>
        <p:spPr>
          <a:xfrm>
            <a:off x="320040" y="226287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223543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「工作資訊」區塊填入工作名稱（如 AZARLND），對應到除錯用 JCL 的 JOB NAME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31535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15" name="Text 13"/>
          <p:cNvSpPr/>
          <p:nvPr/>
        </p:nvSpPr>
        <p:spPr>
          <a:xfrm>
            <a:off x="320040" y="31535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3126132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「除錯器選項」區塊：測試層次填 TEST、錯誤層次填 ERROR、提示層次填 PROMPT，對應到 JCL 裡 CEEOPTS 的 TEST(ERROR,,PROMPT,RDS:*)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404425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18" name="Text 16"/>
          <p:cNvSpPr/>
          <p:nvPr/>
        </p:nvSpPr>
        <p:spPr>
          <a:xfrm>
            <a:off x="320040" y="404425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016826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「EQAOPTS 檔案」欄位填入剛剛組譯出的 EQAOPTS member 路徑（AZARLN.#TEST.LOAD(EQAOPTS)），CODEPAGE 937 設定才會被套用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49349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21" name="Text 19"/>
          <p:cNvSpPr/>
          <p:nvPr/>
        </p:nvSpPr>
        <p:spPr>
          <a:xfrm>
            <a:off x="320040" y="493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90752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存檔後，Profile 會顯示「作用中模式：除錯」；之後送出除錯 JCL，再用「連接到停放的除錯階段作業」接上即可</a:t>
            </a:r>
            <a:endParaRPr lang="en-US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22D2EF9-4A0F-9545-300F-79EB285452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06" r="13667" b="70309"/>
          <a:stretch>
            <a:fillRect/>
          </a:stretch>
        </p:blipFill>
        <p:spPr>
          <a:xfrm>
            <a:off x="6096000" y="2383974"/>
            <a:ext cx="4300290" cy="129807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2098284-B67C-EDD0-C3FB-3CC617BC56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37" t="62639" r="72034" b="21198"/>
          <a:stretch>
            <a:fillRect/>
          </a:stretch>
        </p:blipFill>
        <p:spPr>
          <a:xfrm>
            <a:off x="6096000" y="1158706"/>
            <a:ext cx="3224334" cy="114835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8A940B-0AA8-C298-0960-0198337792C4}"/>
              </a:ext>
            </a:extLst>
          </p:cNvPr>
          <p:cNvSpPr/>
          <p:nvPr/>
        </p:nvSpPr>
        <p:spPr>
          <a:xfrm>
            <a:off x="7708167" y="1958680"/>
            <a:ext cx="1119066" cy="224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EEB684-5E4F-0129-28E6-4741DA65AEDB}"/>
              </a:ext>
            </a:extLst>
          </p:cNvPr>
          <p:cNvSpPr/>
          <p:nvPr/>
        </p:nvSpPr>
        <p:spPr>
          <a:xfrm>
            <a:off x="6170141" y="3321765"/>
            <a:ext cx="622698" cy="2715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558B214-71A6-809C-0238-A6EA2D87F1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787" b="24333"/>
          <a:stretch>
            <a:fillRect/>
          </a:stretch>
        </p:blipFill>
        <p:spPr>
          <a:xfrm>
            <a:off x="12966675" y="3951899"/>
            <a:ext cx="3944253" cy="24255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F9E4FC6-A03B-D1C3-1C86-7D6C29F8AB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146" b="42620"/>
          <a:stretch>
            <a:fillRect/>
          </a:stretch>
        </p:blipFill>
        <p:spPr>
          <a:xfrm>
            <a:off x="6095847" y="3730910"/>
            <a:ext cx="5429338" cy="2508656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27F6E82E-C564-D1F2-0DEC-4EDA82A717A0}"/>
              </a:ext>
            </a:extLst>
          </p:cNvPr>
          <p:cNvSpPr/>
          <p:nvPr/>
        </p:nvSpPr>
        <p:spPr>
          <a:xfrm>
            <a:off x="6095847" y="4078382"/>
            <a:ext cx="5074920" cy="21611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A0390-5C0B-1A21-A405-68AEACB43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09530F-E43E-2911-8469-8E6243F9AF29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A2307E-5BF3-4902-69C5-0E8D59CA2E3C}"/>
              </a:ext>
            </a:extLst>
          </p:cNvPr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 Debug Profile（PROFILE-1）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92D7B44-A62D-D8E3-7F31-A085B280FB14}"/>
              </a:ext>
            </a:extLst>
          </p:cNvPr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VS Code「Z/OS DEBUGGER PROFILES」面板逐步設定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C9A0A5C-0E2F-7FCC-6997-BC2B6D466067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8CE6AB6-113F-2514-95B6-7918A331C4D1}"/>
              </a:ext>
            </a:extLst>
          </p:cNvPr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2F07C9F-54D6-0388-77E0-2A3DC929528B}"/>
              </a:ext>
            </a:extLst>
          </p:cNvPr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85C9D64-6D0A-4F94-487E-AB98ABD10A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06" b="29329"/>
          <a:stretch>
            <a:fillRect/>
          </a:stretch>
        </p:blipFill>
        <p:spPr>
          <a:xfrm>
            <a:off x="12303246" y="3722984"/>
            <a:ext cx="4934489" cy="284309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B9861C8-69C0-3480-D080-36B9B738D8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53" t="61634" r="75442" b="15291"/>
          <a:stretch>
            <a:fillRect/>
          </a:stretch>
        </p:blipFill>
        <p:spPr>
          <a:xfrm>
            <a:off x="9087025" y="1993937"/>
            <a:ext cx="2601750" cy="1520815"/>
          </a:xfrm>
          <a:prstGeom prst="rect">
            <a:avLst/>
          </a:prstGeom>
        </p:spPr>
      </p:pic>
      <p:sp>
        <p:nvSpPr>
          <p:cNvPr id="25" name="Shape 6">
            <a:extLst>
              <a:ext uri="{FF2B5EF4-FFF2-40B4-BE49-F238E27FC236}">
                <a16:creationId xmlns:a16="http://schemas.microsoft.com/office/drawing/2014/main" id="{160DBD5F-F03E-872E-0572-E9D4E83A2585}"/>
              </a:ext>
            </a:extLst>
          </p:cNvPr>
          <p:cNvSpPr/>
          <p:nvPr/>
        </p:nvSpPr>
        <p:spPr>
          <a:xfrm>
            <a:off x="320040" y="13721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EEE31F2D-7441-43E4-E919-056F27102236}"/>
              </a:ext>
            </a:extLst>
          </p:cNvPr>
          <p:cNvSpPr/>
          <p:nvPr/>
        </p:nvSpPr>
        <p:spPr>
          <a:xfrm>
            <a:off x="320040" y="1372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6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0D891C00-8F4F-EEA7-DC36-3A6B139A5E2B}"/>
              </a:ext>
            </a:extLst>
          </p:cNvPr>
          <p:cNvSpPr/>
          <p:nvPr/>
        </p:nvSpPr>
        <p:spPr>
          <a:xfrm>
            <a:off x="777240" y="1344744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在左側 Zowe Explorer 樹狀圖找到「Z/OS DEBUGGER PROFILES」，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 Profiles → Non-CICS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底下右鍵建立一個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Profile，命名為 PROFILE-1</a:t>
            </a:r>
            <a:endParaRPr lang="en-US" sz="1400" dirty="0"/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047EF8A1-69E4-1F64-AE4F-B540D9347368}"/>
              </a:ext>
            </a:extLst>
          </p:cNvPr>
          <p:cNvSpPr/>
          <p:nvPr/>
        </p:nvSpPr>
        <p:spPr>
          <a:xfrm>
            <a:off x="320040" y="226287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F1B2D1BD-D088-9298-BF4B-B9873C4BAB7B}"/>
              </a:ext>
            </a:extLst>
          </p:cNvPr>
          <p:cNvSpPr/>
          <p:nvPr/>
        </p:nvSpPr>
        <p:spPr>
          <a:xfrm>
            <a:off x="320040" y="226287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6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CE57CC4A-9ABC-0A11-CC34-7A70189B4802}"/>
              </a:ext>
            </a:extLst>
          </p:cNvPr>
          <p:cNvSpPr/>
          <p:nvPr/>
        </p:nvSpPr>
        <p:spPr>
          <a:xfrm>
            <a:off x="777240" y="223543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「工作資訊」區塊填入工作名稱（如 AZARLND），對應到除錯用 JCL 的 JOB NAME</a:t>
            </a:r>
            <a:endParaRPr lang="en-US" sz="140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5BC1C4CA-CB43-C38E-78E6-9272DAF74388}"/>
              </a:ext>
            </a:extLst>
          </p:cNvPr>
          <p:cNvSpPr/>
          <p:nvPr/>
        </p:nvSpPr>
        <p:spPr>
          <a:xfrm>
            <a:off x="320040" y="31535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2D4E8DB4-8547-E1A2-062F-06CAD7AD8FF0}"/>
              </a:ext>
            </a:extLst>
          </p:cNvPr>
          <p:cNvSpPr/>
          <p:nvPr/>
        </p:nvSpPr>
        <p:spPr>
          <a:xfrm>
            <a:off x="320040" y="31535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6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836A7CD9-44B1-522C-2BEC-A343D47931D6}"/>
              </a:ext>
            </a:extLst>
          </p:cNvPr>
          <p:cNvSpPr/>
          <p:nvPr/>
        </p:nvSpPr>
        <p:spPr>
          <a:xfrm>
            <a:off x="777240" y="3126132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「除錯器選項」區塊：測試層次填 TEST、錯誤層次填 ERROR、提示層次填 PROMPT，對應到 JCL 裡 CEEOPTS 的 TEST(ERROR,,PROMPT,RDS:*)</a:t>
            </a:r>
            <a:endParaRPr lang="en-US" sz="1400" dirty="0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95AE772E-FFB0-9880-39A7-434FD6D9BF09}"/>
              </a:ext>
            </a:extLst>
          </p:cNvPr>
          <p:cNvSpPr/>
          <p:nvPr/>
        </p:nvSpPr>
        <p:spPr>
          <a:xfrm>
            <a:off x="320040" y="404425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D2450F70-383C-88FA-F6D4-F2B437A4E4DE}"/>
              </a:ext>
            </a:extLst>
          </p:cNvPr>
          <p:cNvSpPr/>
          <p:nvPr/>
        </p:nvSpPr>
        <p:spPr>
          <a:xfrm>
            <a:off x="320040" y="404425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C51D9D0C-6367-7C5F-A16D-D7BB0FB90414}"/>
              </a:ext>
            </a:extLst>
          </p:cNvPr>
          <p:cNvSpPr/>
          <p:nvPr/>
        </p:nvSpPr>
        <p:spPr>
          <a:xfrm>
            <a:off x="777240" y="4016826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「EQAOPTS 檔案」欄位填入剛剛組譯出的 EQAOPTS member 路徑（AZARLN.#TEST.LOAD(EQAOPTS)），CODEPAGE 937 設定才會被套用</a:t>
            </a:r>
            <a:endParaRPr lang="en-US" sz="1400" dirty="0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E3509EA1-0872-48E0-1621-56A0E96BD47C}"/>
              </a:ext>
            </a:extLst>
          </p:cNvPr>
          <p:cNvSpPr/>
          <p:nvPr/>
        </p:nvSpPr>
        <p:spPr>
          <a:xfrm>
            <a:off x="320040" y="49349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7B7586A7-70BD-3343-AA95-9E5362ACAF22}"/>
              </a:ext>
            </a:extLst>
          </p:cNvPr>
          <p:cNvSpPr/>
          <p:nvPr/>
        </p:nvSpPr>
        <p:spPr>
          <a:xfrm>
            <a:off x="320040" y="493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F994F79A-10D7-9494-1939-F2096EA2DD89}"/>
              </a:ext>
            </a:extLst>
          </p:cNvPr>
          <p:cNvSpPr/>
          <p:nvPr/>
        </p:nvSpPr>
        <p:spPr>
          <a:xfrm>
            <a:off x="777240" y="490752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存檔後，Profile 會顯示「作用中模式：除錯」；之後送出除錯 JCL，再用「連接到停放的除錯階段作業」接上即可</a:t>
            </a:r>
            <a:endParaRPr lang="en-US" sz="14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59219C0-EE0D-7EFE-B8A1-523B71B852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47" t="62024" r="68806" b="15873"/>
          <a:stretch>
            <a:fillRect/>
          </a:stretch>
        </p:blipFill>
        <p:spPr>
          <a:xfrm>
            <a:off x="6754286" y="1103646"/>
            <a:ext cx="3493551" cy="1521459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E30B8AE-428E-DCF9-AA55-CC13AABC9912}"/>
              </a:ext>
            </a:extLst>
          </p:cNvPr>
          <p:cNvSpPr/>
          <p:nvPr/>
        </p:nvSpPr>
        <p:spPr>
          <a:xfrm>
            <a:off x="8873664" y="2013639"/>
            <a:ext cx="976392" cy="2416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C74514A-CE0B-1A40-06BE-F9AD4DFE9C4D}"/>
              </a:ext>
            </a:extLst>
          </p:cNvPr>
          <p:cNvSpPr/>
          <p:nvPr/>
        </p:nvSpPr>
        <p:spPr>
          <a:xfrm>
            <a:off x="9087024" y="2788748"/>
            <a:ext cx="2601749" cy="630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FF0DD-00E1-331D-B316-53826C63EA7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5453"/>
          <a:stretch>
            <a:fillRect/>
          </a:stretch>
        </p:blipFill>
        <p:spPr>
          <a:xfrm>
            <a:off x="6749155" y="3558132"/>
            <a:ext cx="4934488" cy="289237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D7CCC2-8EBB-B0F9-B01F-FF7AFE097F17}"/>
              </a:ext>
            </a:extLst>
          </p:cNvPr>
          <p:cNvSpPr/>
          <p:nvPr/>
        </p:nvSpPr>
        <p:spPr>
          <a:xfrm>
            <a:off x="6749002" y="4512834"/>
            <a:ext cx="4934488" cy="16639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1646D7-9B17-7852-C7B8-49437D052892}"/>
              </a:ext>
            </a:extLst>
          </p:cNvPr>
          <p:cNvSpPr/>
          <p:nvPr/>
        </p:nvSpPr>
        <p:spPr>
          <a:xfrm>
            <a:off x="10832067" y="3847672"/>
            <a:ext cx="235983" cy="23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3527E4-F16D-5C18-C278-142C679A9D07}"/>
              </a:ext>
            </a:extLst>
          </p:cNvPr>
          <p:cNvSpPr txBox="1"/>
          <p:nvPr/>
        </p:nvSpPr>
        <p:spPr>
          <a:xfrm>
            <a:off x="10898200" y="3961649"/>
            <a:ext cx="704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存檔</a:t>
            </a:r>
            <a:endParaRPr lang="en-TW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544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已完成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設定中文顯示（CODEPAGE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937）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整套修正流程 — 三個環節缺一不可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</a:t>
            </a: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TW" sz="1400" dirty="0">
                <a:highlight>
                  <a:srgbClr val="FFFF00"/>
                </a:highlight>
              </a:rPr>
              <a:t>IDZEE.DEBUG.SEQASAMP(EQAOPTS)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組合語言原始碼裡，把</a:t>
            </a: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* EQAXOPT CODEPAGE,937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的註解星號拿掉並</a:t>
            </a: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Submit，變成真正生效的敘述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組譯連結該原始碼，產生 AZARLN.#TEST.LOAD(EQAOPTS)（用 ASMACL PROC；步驟名稱要對到 ASM／LKED，不是範本假設的 C／L）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測試 JCL 的 STEPLIB 把 AZARLN.#TEST.LOAD 排在系統的 IDZEE.DEBUG.SEQAMOD 前面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全新啟動一次除錯 session（不能用「重新啟動」按鈕，那個動作不受支援）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11109960" cy="73152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777240" y="3410712"/>
            <a:ext cx="10561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驗證方式：  </a:t>
            </a:r>
            <a:r>
              <a:rPr lang="en-US" sz="12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比對組譯清單裡 EQAXOPT CODEPAGE,937 前面沒有星號，且 Binder 輸出的 MODULE SIZE 從空模組的 0x28 bytes 變大到 0x30 bytes（多出 CodePage 選項的資料）。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修正前後對照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中文欄位從亂碼變成正確顯示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9" name="Image 1" descr="/home/claude/work/assets/fixed_chinese_exi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5263" y="1873091"/>
            <a:ext cx="5532120" cy="311181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58064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1" name="Text 7"/>
          <p:cNvSpPr/>
          <p:nvPr/>
        </p:nvSpPr>
        <p:spPr>
          <a:xfrm>
            <a:off x="457200" y="58064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修正前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99632" y="58064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9"/>
          <p:cNvSpPr/>
          <p:nvPr/>
        </p:nvSpPr>
        <p:spPr>
          <a:xfrm>
            <a:off x="6199632" y="58064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修正後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965960" y="58338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修正前：INIT 字串常數與 INU_APCNT_NAME 等中文欄位全部亂碼（未套用 CODEPAGE 937）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708392" y="58338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修正後：列印日期、股別代號、要保人姓名等中文欄位正確顯示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52B41EC-EE8C-2321-8CD1-ED30837A36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271"/>
          <a:stretch>
            <a:fillRect/>
          </a:stretch>
        </p:blipFill>
        <p:spPr>
          <a:xfrm>
            <a:off x="6199631" y="1578302"/>
            <a:ext cx="5386627" cy="37532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AA3B500-E696-19A4-F9DC-E4B8A8D625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9271"/>
          <a:stretch>
            <a:fillRect/>
          </a:stretch>
        </p:blipFill>
        <p:spPr>
          <a:xfrm>
            <a:off x="457199" y="1578302"/>
            <a:ext cx="5386627" cy="375327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2CCA459-58D8-5109-C4B0-11B482352D73}"/>
              </a:ext>
            </a:extLst>
          </p:cNvPr>
          <p:cNvSpPr/>
          <p:nvPr/>
        </p:nvSpPr>
        <p:spPr>
          <a:xfrm>
            <a:off x="605742" y="1786994"/>
            <a:ext cx="1917539" cy="21136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208A35-DE70-F89A-71CA-D9050E7DF83D}"/>
              </a:ext>
            </a:extLst>
          </p:cNvPr>
          <p:cNvSpPr/>
          <p:nvPr/>
        </p:nvSpPr>
        <p:spPr>
          <a:xfrm>
            <a:off x="6337140" y="1786994"/>
            <a:ext cx="1917539" cy="21136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端設定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Zowe Explorer + IBM Z Open Debug 連線建置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19" y="1234440"/>
            <a:ext cx="11414455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IBM Z Open Editor／Z Open Debug 擴充套件，並設定好 Zowe Explorer 的 rse／zosmf profile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zowe.config.json 裡 rse／zosmf 的 encoding 都設為 "937"（給資料集瀏覽用，跟除錯器的 EQAOPTS 是兩回事，兩邊都要設）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launch.json 新增三種設定：連接到停放的除錯階段作業（launch）、連接到停放的除錯階段作業（attach）、列出停放的除錯階段作業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Z/OS DEBUGGER PROFILES 面板建立 PROFILE-1（Batch／Non-CICS），詳細步驟見上一頁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送出</a:t>
            </a: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除錯 </a:t>
            </a:r>
            <a:r>
              <a:rPr lang="en-US" sz="16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JCL </a:t>
            </a: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後，回到 VS Code 用「連接到停放的除錯階段作業」接上該 job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 Demo 實際操作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Demo 實際操作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 Demo 流程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 確認 Debug Profile 是「作用中」（每次新 session 都要重新確認）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892808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在目前連線的原始碼分頁設中斷點（不要用另外開的舊分頁）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55117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 送出 TSTJJ —— 這次工作不會瞬間結束，會停住等待連線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20954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④ Command Palette →「Z Open Debug：列出停放的除錯階段作業」→ 連接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86791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⑤ 程式停在中斷點，檢視「變數」面板，Step Over／Continue 逐步往下走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0" descr="/home/claude/work/assets/variable_values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01691"/>
            <a:ext cx="5532120" cy="311181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72200" y="619963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程式停在第 227 行（CALL P6000_CAL_AF_GNZCDTE），READ 尚未執行，變數面板顯示 CIFREJ3 都還是初始空值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50974-1DE0-66CB-032E-FE32EC21C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A17FCA-2546-6DC0-F72F-ABE3EDA53282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F7EEAF-45B9-7564-F12A-12F35BCBD896}"/>
              </a:ext>
            </a:extLst>
          </p:cNvPr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端設定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9E1B97-0860-A24E-CA69-AF7E0CC56B2E}"/>
              </a:ext>
            </a:extLst>
          </p:cNvPr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Zowe Explorer + IBM Z Open Debug 連線建置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74BD3F-8402-D92A-DB3B-F0B0A079F6DB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F186A1-2013-70E2-AFCF-E9739DF512B9}"/>
              </a:ext>
            </a:extLst>
          </p:cNvPr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25DE6C-B676-41A6-91BC-662A2646B28A}"/>
              </a:ext>
            </a:extLst>
          </p:cNvPr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A526DE4-ABCD-E2C6-672D-B07E441AFEA8}"/>
              </a:ext>
            </a:extLst>
          </p:cNvPr>
          <p:cNvSpPr/>
          <p:nvPr/>
        </p:nvSpPr>
        <p:spPr>
          <a:xfrm>
            <a:off x="502920" y="1234440"/>
            <a:ext cx="443276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執行與偵錯檢視(Run and Debug view)</a:t>
            </a:r>
            <a:r>
              <a:rPr lang="en-TW" sz="1600" dirty="0"/>
              <a:t>：顯示所有跟執行、偵錯、管理偵錯設定相關的資訊。</a:t>
            </a:r>
          </a:p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偵錯工具列(Debug toolbar)</a:t>
            </a:r>
            <a:r>
              <a:rPr lang="en-TW" sz="1600" dirty="0"/>
              <a:t>：放置最常用的偵錯操作按鈕(暫停、逐步執行、重新啟動、停止等)。</a:t>
            </a:r>
          </a:p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偵錯主控台(Debug console)</a:t>
            </a:r>
            <a:r>
              <a:rPr lang="en-TW" sz="1600" dirty="0"/>
              <a:t>：可以檢視並直接互動你的程式碼在除錯階段作業中的輸出結果。</a:t>
            </a:r>
          </a:p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偵錯側邊欄(Debug sidebar)</a:t>
            </a:r>
            <a:r>
              <a:rPr lang="en-TW" sz="1600" dirty="0"/>
              <a:t>：在除錯階段作業期間,可以檢視並操作呼叫堆疊(call stack)、中斷點、變數,以及監看變數。</a:t>
            </a:r>
          </a:p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執行選單(Run menu)</a:t>
            </a:r>
            <a:r>
              <a:rPr lang="en-TW" sz="1600" dirty="0"/>
              <a:t>：包含最常用的執行與偵錯指令。</a:t>
            </a:r>
          </a:p>
        </p:txBody>
      </p:sp>
      <p:pic>
        <p:nvPicPr>
          <p:cNvPr id="9" name="Picture 8" descr="Debugging diagram">
            <a:extLst>
              <a:ext uri="{FF2B5EF4-FFF2-40B4-BE49-F238E27FC236}">
                <a16:creationId xmlns:a16="http://schemas.microsoft.com/office/drawing/2014/main" id="{A58E5895-BB15-D127-46E8-9FF44490C5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00" b="1156"/>
          <a:stretch>
            <a:fillRect/>
          </a:stretch>
        </p:blipFill>
        <p:spPr>
          <a:xfrm>
            <a:off x="4979975" y="1289304"/>
            <a:ext cx="7211720" cy="454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01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中斷點設計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對照原始碼行號的教學用中斷點清單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123444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37360" y="1280160"/>
            <a:ext cx="329184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1" name="Text 9"/>
          <p:cNvSpPr/>
          <p:nvPr/>
        </p:nvSpPr>
        <p:spPr>
          <a:xfrm>
            <a:off x="1828800" y="1280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敘述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1280160"/>
            <a:ext cx="356616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3" name="Text 11"/>
          <p:cNvSpPr/>
          <p:nvPr/>
        </p:nvSpPr>
        <p:spPr>
          <a:xfrm>
            <a:off x="5120640" y="128016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95360" y="1280160"/>
            <a:ext cx="301752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5" name="Text 13"/>
          <p:cNvSpPr/>
          <p:nvPr/>
        </p:nvSpPr>
        <p:spPr>
          <a:xfrm>
            <a:off x="8686800" y="12801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類型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184708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7" name="Text 15"/>
          <p:cNvSpPr/>
          <p:nvPr/>
        </p:nvSpPr>
        <p:spPr>
          <a:xfrm>
            <a:off x="594360" y="184708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37360" y="1847088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9" name="Text 17"/>
          <p:cNvSpPr/>
          <p:nvPr/>
        </p:nvSpPr>
        <p:spPr>
          <a:xfrm>
            <a:off x="1828800" y="184708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FILE(FDATAI)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1847088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1" name="Text 19"/>
          <p:cNvSpPr/>
          <p:nvPr/>
        </p:nvSpPr>
        <p:spPr>
          <a:xfrm>
            <a:off x="5120640" y="184708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起手式中斷點（第一筆資料）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95360" y="1847088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3" name="Text 21"/>
          <p:cNvSpPr/>
          <p:nvPr/>
        </p:nvSpPr>
        <p:spPr>
          <a:xfrm>
            <a:off x="8686800" y="184708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2414016"/>
            <a:ext cx="12344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5" name="Text 23"/>
          <p:cNvSpPr/>
          <p:nvPr/>
        </p:nvSpPr>
        <p:spPr>
          <a:xfrm>
            <a:off x="594360" y="24140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227／379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737360" y="2414016"/>
            <a:ext cx="32918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7" name="Text 25"/>
          <p:cNvSpPr/>
          <p:nvPr/>
        </p:nvSpPr>
        <p:spPr>
          <a:xfrm>
            <a:off x="1828800" y="241401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P6000／GNZCDTE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0" y="2414016"/>
            <a:ext cx="35661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9" name="Text 27"/>
          <p:cNvSpPr/>
          <p:nvPr/>
        </p:nvSpPr>
        <p:spPr>
          <a:xfrm>
            <a:off x="5120640" y="241401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Into（F11）示範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95360" y="2414016"/>
            <a:ext cx="3017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1" name="Text 29"/>
          <p:cNvSpPr/>
          <p:nvPr/>
        </p:nvSpPr>
        <p:spPr>
          <a:xfrm>
            <a:off x="8686800" y="241401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2980944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3" name="Text 31"/>
          <p:cNvSpPr/>
          <p:nvPr/>
        </p:nvSpPr>
        <p:spPr>
          <a:xfrm>
            <a:off x="594360" y="298094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737360" y="2980944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5" name="Text 33"/>
          <p:cNvSpPr/>
          <p:nvPr/>
        </p:nvSpPr>
        <p:spPr>
          <a:xfrm>
            <a:off x="1828800" y="298094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P3000_PERFORM_TX（迴圈內）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0" y="2980944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7" name="Text 35"/>
          <p:cNvSpPr/>
          <p:nvPr/>
        </p:nvSpPr>
        <p:spPr>
          <a:xfrm>
            <a:off x="5120640" y="298094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重複命中示範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595360" y="2980944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9" name="Text 37"/>
          <p:cNvSpPr/>
          <p:nvPr/>
        </p:nvSpPr>
        <p:spPr>
          <a:xfrm>
            <a:off x="8686800" y="298094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2920" y="3547872"/>
            <a:ext cx="12344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1" name="Text 39"/>
          <p:cNvSpPr/>
          <p:nvPr/>
        </p:nvSpPr>
        <p:spPr>
          <a:xfrm>
            <a:off x="594360" y="354787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737360" y="3547872"/>
            <a:ext cx="32918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3" name="Text 41"/>
          <p:cNvSpPr/>
          <p:nvPr/>
        </p:nvSpPr>
        <p:spPr>
          <a:xfrm>
            <a:off x="1828800" y="354787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換局號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029200" y="3547872"/>
            <a:ext cx="35661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5" name="Text 43"/>
          <p:cNvSpPr/>
          <p:nvPr/>
        </p:nvSpPr>
        <p:spPr>
          <a:xfrm>
            <a:off x="5120640" y="354787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條件分支示範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595360" y="3547872"/>
            <a:ext cx="3017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7" name="Text 45"/>
          <p:cNvSpPr/>
          <p:nvPr/>
        </p:nvSpPr>
        <p:spPr>
          <a:xfrm>
            <a:off x="8686800" y="354787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條件：HANDLE_BRH_NO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=‘071111'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02920" y="4114800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9" name="Text 47"/>
          <p:cNvSpPr/>
          <p:nvPr/>
        </p:nvSpPr>
        <p:spPr>
          <a:xfrm>
            <a:off x="594360" y="411480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737360" y="4114800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1" name="Text 49"/>
          <p:cNvSpPr/>
          <p:nvPr/>
        </p:nvSpPr>
        <p:spPr>
          <a:xfrm>
            <a:off x="1828800" y="411480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GWK_LINE_CNT = 48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029200" y="4114800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3" name="Text 51"/>
          <p:cNvSpPr/>
          <p:nvPr/>
        </p:nvSpPr>
        <p:spPr>
          <a:xfrm>
            <a:off x="5120640" y="411480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滿頁換頁示範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595360" y="4114800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5" name="Text 53"/>
          <p:cNvSpPr/>
          <p:nvPr/>
        </p:nvSpPr>
        <p:spPr>
          <a:xfrm>
            <a:off x="8686800" y="41148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GWK_LINE_CNT = 48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02920" y="4681728"/>
            <a:ext cx="12344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7" name="Text 55"/>
          <p:cNvSpPr/>
          <p:nvPr/>
        </p:nvSpPr>
        <p:spPr>
          <a:xfrm>
            <a:off x="594360" y="468172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1737360" y="4681728"/>
            <a:ext cx="32918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9" name="Text 57"/>
          <p:cNvSpPr/>
          <p:nvPr/>
        </p:nvSpPr>
        <p:spPr>
          <a:xfrm>
            <a:off x="1828800" y="468172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FILE（迴圈內）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029200" y="4681728"/>
            <a:ext cx="35661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1" name="Text 59"/>
          <p:cNvSpPr/>
          <p:nvPr/>
        </p:nvSpPr>
        <p:spPr>
          <a:xfrm>
            <a:off x="5120640" y="468172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N 次命中示範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8595360" y="4681728"/>
            <a:ext cx="3017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3" name="Text 61"/>
          <p:cNvSpPr/>
          <p:nvPr/>
        </p:nvSpPr>
        <p:spPr>
          <a:xfrm>
            <a:off x="8686800" y="468172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叫用次數 = 3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02920" y="5248656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5" name="Text 63"/>
          <p:cNvSpPr/>
          <p:nvPr/>
        </p:nvSpPr>
        <p:spPr>
          <a:xfrm>
            <a:off x="594360" y="524865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1737360" y="5248656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7" name="Text 65"/>
          <p:cNvSpPr/>
          <p:nvPr/>
        </p:nvSpPr>
        <p:spPr>
          <a:xfrm>
            <a:off x="1828800" y="524865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FILE FROM(GWK_BODY)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029200" y="5248656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9" name="Text 67"/>
          <p:cNvSpPr/>
          <p:nvPr/>
        </p:nvSpPr>
        <p:spPr>
          <a:xfrm>
            <a:off x="5120640" y="524865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每筆明細追蹤（原規劃記錄點）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8595360" y="5248656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71" name="Text 69"/>
          <p:cNvSpPr/>
          <p:nvPr/>
        </p:nvSpPr>
        <p:spPr>
          <a:xfrm>
            <a:off x="8686800" y="524865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記錄點不支援，見後頁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右鍵中斷點選單總覽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在原始碼行號上按右鍵，四種中斷點類型一次看懂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8" name="Image 0" descr="/home/claude/work/assets/rightclick_menu.png"/>
          <p:cNvPicPr>
            <a:picLocks noChangeAspect="1"/>
          </p:cNvPicPr>
          <p:nvPr/>
        </p:nvPicPr>
        <p:blipFill>
          <a:blip r:embed="rId3"/>
          <a:srcRect b="4303"/>
          <a:stretch>
            <a:fillRect/>
          </a:stretch>
        </p:blipFill>
        <p:spPr>
          <a:xfrm>
            <a:off x="124691" y="1636776"/>
            <a:ext cx="7377125" cy="39710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60178" y="13624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加入中斷點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最基本的一般中斷點，程式執行到這行就無條件停下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60178" y="22768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新增條件中斷點...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只有當指定運算式為真、或命中次數達到設定值時才停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60178" y="3191256"/>
            <a:ext cx="391872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新增記錄點...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設計上應該「不中斷，只印訊息」，但 VS Code 目前不支援（見後頁）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60178" y="41056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新增觸發的中斷點...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平常不啟用，等另一個中斷點先被命中後才自動啟用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60178" y="50200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執行至行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不設中斷點，直接續行執行到滑鼠所在這一行為止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837CA2-181B-BD60-5047-884B11CCC67C}"/>
              </a:ext>
            </a:extLst>
          </p:cNvPr>
          <p:cNvSpPr/>
          <p:nvPr/>
        </p:nvSpPr>
        <p:spPr>
          <a:xfrm flipH="1">
            <a:off x="2421082" y="3118104"/>
            <a:ext cx="685800" cy="5810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怎麼設定條件中斷點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右鍵 → 新增條件中斷點...（不是「新增記錄點」）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478079"/>
            <a:ext cx="5623560" cy="3062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在原始碼行號上按滑鼠右鍵，選單裡選「新增條件中斷點...」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32613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類型下拉選單有四種：運算式／叫用次數／記錄訊息／等候中斷點，選「運算式」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829426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內容填入條件式，例如 GWK_LINE_CNT = 48，按 Enter 確認、Escape 取消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626239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存檔後，行號左側圖示會變成菱形／空心樣式，滑鼠停留可看到「條件：GWK_LINE_CNT = 48」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423126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續行（F5）時，只有條件成立那一刻才會真正停下來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5539979"/>
            <a:ext cx="5623560" cy="68580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000"/>
          </a:p>
        </p:txBody>
      </p:sp>
      <p:sp>
        <p:nvSpPr>
          <p:cNvPr id="14" name="Text 12"/>
          <p:cNvSpPr/>
          <p:nvPr/>
        </p:nvSpPr>
        <p:spPr>
          <a:xfrm>
            <a:off x="685800" y="5631419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另一個常用類型「叫用次數」：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跳過前 N-1 次命中，第 N 次才停（用於 268 行示範）</a:t>
            </a:r>
            <a:endParaRPr lang="en-US" sz="1200" dirty="0"/>
          </a:p>
        </p:txBody>
      </p:sp>
      <p:pic>
        <p:nvPicPr>
          <p:cNvPr id="15" name="Image 0" descr="/home/claude/work/assets/garbled_source_dropdown.png"/>
          <p:cNvPicPr>
            <a:picLocks noChangeAspect="1"/>
          </p:cNvPicPr>
          <p:nvPr/>
        </p:nvPicPr>
        <p:blipFill>
          <a:blip r:embed="rId3"/>
          <a:srcRect r="28278" b="5046"/>
          <a:stretch>
            <a:fillRect/>
          </a:stretch>
        </p:blipFill>
        <p:spPr>
          <a:xfrm>
            <a:off x="6400800" y="1739163"/>
            <a:ext cx="5623560" cy="418788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2099E04-3ADF-341A-BC6E-98E93FFB9255}"/>
              </a:ext>
            </a:extLst>
          </p:cNvPr>
          <p:cNvSpPr/>
          <p:nvPr/>
        </p:nvSpPr>
        <p:spPr>
          <a:xfrm flipH="1">
            <a:off x="8817500" y="2985099"/>
            <a:ext cx="491752" cy="5640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實錄：條件中斷點成功命中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 行 GWK_LINE_CNT = 48 評估為真，程式正確停下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8" name="Image 0" descr="/home/claude/work/assets/conditional_hit_3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5" y="1135171"/>
            <a:ext cx="9539935" cy="53662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E73B797-F5FB-542C-CBD0-C567B32E21DC}"/>
              </a:ext>
            </a:extLst>
          </p:cNvPr>
          <p:cNvSpPr/>
          <p:nvPr/>
        </p:nvSpPr>
        <p:spPr>
          <a:xfrm flipH="1">
            <a:off x="389724" y="4244054"/>
            <a:ext cx="3187926" cy="5849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AF1B1E-159B-FE48-0551-F6E97BCEDE28}"/>
              </a:ext>
            </a:extLst>
          </p:cNvPr>
          <p:cNvSpPr txBox="1"/>
          <p:nvPr/>
        </p:nvSpPr>
        <p:spPr>
          <a:xfrm>
            <a:off x="1103313" y="3854954"/>
            <a:ext cx="172901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GWK_LINE_CNT = 48 </a:t>
            </a:r>
            <a:endParaRPr lang="en-TW" dirty="0"/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DC6BABD7-092C-C7C0-5D29-C6DF1A03DF9A}"/>
              </a:ext>
            </a:extLst>
          </p:cNvPr>
          <p:cNvSpPr/>
          <p:nvPr/>
        </p:nvSpPr>
        <p:spPr>
          <a:xfrm rot="18637673">
            <a:off x="1152692" y="4193192"/>
            <a:ext cx="332680" cy="184492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D169E59-E296-6BBF-58A2-5114B4838553}"/>
              </a:ext>
            </a:extLst>
          </p:cNvPr>
          <p:cNvSpPr/>
          <p:nvPr/>
        </p:nvSpPr>
        <p:spPr>
          <a:xfrm>
            <a:off x="9760643" y="1156801"/>
            <a:ext cx="2381020" cy="1097280"/>
          </a:xfrm>
          <a:prstGeom prst="roundRect">
            <a:avLst>
              <a:gd name="adj" fmla="val 5000"/>
            </a:avLst>
          </a:prstGeom>
          <a:solidFill>
            <a:srgbClr val="0F153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D576089-7C0D-FD37-4C6E-6E24E60845D9}"/>
              </a:ext>
            </a:extLst>
          </p:cNvPr>
          <p:cNvSpPr/>
          <p:nvPr/>
        </p:nvSpPr>
        <p:spPr>
          <a:xfrm>
            <a:off x="9943523" y="1248241"/>
            <a:ext cx="22195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Console：</a:t>
            </a:r>
            <a:endParaRPr lang="en-US" sz="11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4EAD3AD-EABA-01F8-A237-5AE8022944D7}"/>
              </a:ext>
            </a:extLst>
          </p:cNvPr>
          <p:cNvSpPr/>
          <p:nvPr/>
        </p:nvSpPr>
        <p:spPr>
          <a:xfrm>
            <a:off x="9943523" y="1489985"/>
            <a:ext cx="22195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E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...breakpoint at statement 319 and the condition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E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GWK_LINE_CNT = 48 evaluated to be true.</a:t>
            </a:r>
            <a:endParaRPr lang="en-US" sz="11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7A7FF32-9342-EC83-91E0-02D44DFEA840}"/>
              </a:ext>
            </a:extLst>
          </p:cNvPr>
          <p:cNvSpPr/>
          <p:nvPr/>
        </p:nvSpPr>
        <p:spPr>
          <a:xfrm>
            <a:off x="9760643" y="2992417"/>
            <a:ext cx="23810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怎麼做到的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 行右鍵 →「新增條件中斷點...」，運算式填 GWK_LINE_CNT = 48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補測試資料到 56 筆左右（新增約 45 筆），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讓行數真正累加超過</a:t>
            </a: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48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繼續（F5），只在條件成立那次真正停下來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新增記錄點（Logpoint）與已知限制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 行原規劃：不中斷、只印 log，目前無法運作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5943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操作方式跟條件中斷點一樣：右鍵 →「新增記錄點...」，或條件中斷點類型選「記錄訊息」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內容填入要印出的訊息樣板，例如：寫出保單={CIFREJ3.POLICY_NO} 局號={CIFREJ3.HANDLE_BRH_NO}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現象：滑鼠停留在標記上顯示「偵錯工具不支援此類型的中斷點」；實際執行時完全比照一般中斷點，每筆資料都會真的停下來，且訊息從未印出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官方文件佐證：z/OS Debugger User's Guide Table 3（Remote IDE debug feature comparison）— Debug Console 的「z/OS Debugger commands」只有 Eclipse 版支援，IBM Z Open Debug（VS Code）只支援「Evaluating variables and expressions」</a:t>
            </a:r>
            <a:endParaRPr lang="en-US" sz="1600" dirty="0"/>
          </a:p>
        </p:txBody>
      </p:sp>
      <p:pic>
        <p:nvPicPr>
          <p:cNvPr id="9" name="Image 0" descr="/home/claude/work/assets/logpoint_unsupported_tooltip.png"/>
          <p:cNvPicPr>
            <a:picLocks noChangeAspect="1"/>
          </p:cNvPicPr>
          <p:nvPr/>
        </p:nvPicPr>
        <p:blipFill>
          <a:blip r:embed="rId3"/>
          <a:srcRect l="29889" r="36974" b="75318"/>
          <a:stretch>
            <a:fillRect/>
          </a:stretch>
        </p:blipFill>
        <p:spPr>
          <a:xfrm>
            <a:off x="6727221" y="1181427"/>
            <a:ext cx="4961554" cy="2078735"/>
          </a:xfrm>
          <a:prstGeom prst="rect">
            <a:avLst/>
          </a:prstGeom>
        </p:spPr>
      </p:pic>
      <p:pic>
        <p:nvPicPr>
          <p:cNvPr id="10" name="Image 1" descr="/home/claude/work/assets/logpoint_folded_msg.png"/>
          <p:cNvPicPr>
            <a:picLocks noChangeAspect="1"/>
          </p:cNvPicPr>
          <p:nvPr/>
        </p:nvPicPr>
        <p:blipFill>
          <a:blip r:embed="rId4"/>
          <a:srcRect b="26338"/>
          <a:stretch>
            <a:fillRect/>
          </a:stretch>
        </p:blipFill>
        <p:spPr>
          <a:xfrm>
            <a:off x="6727221" y="3423091"/>
            <a:ext cx="4961554" cy="20561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2A89FD-820F-7BDD-A623-466192BC4F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813" b="39858"/>
          <a:stretch>
            <a:fillRect/>
          </a:stretch>
        </p:blipFill>
        <p:spPr>
          <a:xfrm>
            <a:off x="889350" y="4457521"/>
            <a:ext cx="3234690" cy="19200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03FFD51-F672-7534-8100-1B570814A0F1}"/>
              </a:ext>
            </a:extLst>
          </p:cNvPr>
          <p:cNvSpPr/>
          <p:nvPr/>
        </p:nvSpPr>
        <p:spPr>
          <a:xfrm flipH="1">
            <a:off x="1503566" y="5634989"/>
            <a:ext cx="2609043" cy="7426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D1EB43-5EE0-3984-D24F-5DA5B57CEE53}"/>
              </a:ext>
            </a:extLst>
          </p:cNvPr>
          <p:cNvSpPr txBox="1"/>
          <p:nvPr/>
        </p:nvSpPr>
        <p:spPr>
          <a:xfrm>
            <a:off x="4124040" y="5800531"/>
            <a:ext cx="227712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TW" sz="1050" dirty="0">
                <a:solidFill>
                  <a:schemeClr val="tx1"/>
                </a:solidFill>
                <a:effectLst/>
                <a:latin typeface="+mn-lt"/>
              </a:rPr>
              <a:t>Notes:</a:t>
            </a:r>
          </a:p>
          <a:p>
            <a:pPr marL="0" marR="0">
              <a:buNone/>
            </a:pPr>
            <a:r>
              <a:rPr lang="en-TW" sz="1050" dirty="0">
                <a:solidFill>
                  <a:schemeClr val="tx1"/>
                </a:solidFill>
                <a:effectLst/>
                <a:latin typeface="+mn-lt"/>
              </a:rPr>
              <a:t>1. IBM Z Open Debug is provided with IBM Developer for z/OS on VS Code.</a:t>
            </a:r>
            <a:endParaRPr lang="en-TW" sz="3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繼續（F5）vs. 逐步執行（F10／F11）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為什麼有時候按 F5 會直接衝到底，改用 F10／F11 卻正常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40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繼續 Continue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跑到下一個「真正有效」的中斷點才停。如果目前掛的中斷點全部失效（例如掛在 DCL 宣告上、或上一輪 session 的殘影），會一路衝到程式結尾。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5196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34407A"/>
          </a:solidFill>
          <a:ln/>
        </p:spPr>
        <p:txBody>
          <a:bodyPr/>
          <a:lstStyle/>
          <a:p>
            <a:endParaRPr lang="en-TW" sz="2400"/>
          </a:p>
        </p:txBody>
      </p:sp>
      <p:sp>
        <p:nvSpPr>
          <p:cNvPr id="13" name="Text 11"/>
          <p:cNvSpPr/>
          <p:nvPr/>
        </p:nvSpPr>
        <p:spPr>
          <a:xfrm>
            <a:off x="425196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89120" y="1874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不進入函式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 Over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4840" y="22860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不管有沒有中斷點，一次執行一行；遇到 CALL 子程序時，把整個子程序當一步「跨過去」，不會進到內部。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0100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4B5AA0"/>
          </a:solidFill>
          <a:ln/>
        </p:spPr>
        <p:txBody>
          <a:bodyPr/>
          <a:lstStyle/>
          <a:p>
            <a:endParaRPr lang="en-TW" sz="2400"/>
          </a:p>
        </p:txBody>
      </p:sp>
      <p:sp>
        <p:nvSpPr>
          <p:cNvPr id="17" name="Text 15"/>
          <p:cNvSpPr/>
          <p:nvPr/>
        </p:nvSpPr>
        <p:spPr>
          <a:xfrm>
            <a:off x="800100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138160" y="1874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逐步執行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 Into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3880" y="22860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 F10 一樣一行一行走，但遇到 CALL 子程序時會「走進去」，適合追蹤 P6000_CAL_AF_GNZCDTE 這類子程序內部邏輯。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794760"/>
            <a:ext cx="11109960" cy="661626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1" name="Text 19"/>
          <p:cNvSpPr/>
          <p:nvPr/>
        </p:nvSpPr>
        <p:spPr>
          <a:xfrm>
            <a:off x="777240" y="3913632"/>
            <a:ext cx="10561320" cy="435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根因（EQARD1071W）：  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每次重新連上新的除錯 session，舊 session 的中斷點無法對應到這次的內部模組資訊，畫面上仍顯示紅點但實際上是「失效的殘影」，F5 完全不理會它們；F10／F11 不依賴中斷點清單、每按一次就走一行，因此不受影響、行為正常。</a:t>
            </a:r>
            <a:endParaRPr lang="en-US" sz="1400" dirty="0"/>
          </a:p>
        </p:txBody>
      </p:sp>
      <p:pic>
        <p:nvPicPr>
          <p:cNvPr id="22" name="Image 0" descr="/home/claude/work/assets/registers_stepover.png"/>
          <p:cNvPicPr>
            <a:picLocks noChangeAspect="1"/>
          </p:cNvPicPr>
          <p:nvPr/>
        </p:nvPicPr>
        <p:blipFill>
          <a:blip r:embed="rId3"/>
          <a:srcRect b="59384"/>
          <a:stretch>
            <a:fillRect/>
          </a:stretch>
        </p:blipFill>
        <p:spPr>
          <a:xfrm>
            <a:off x="502920" y="4539640"/>
            <a:ext cx="8466526" cy="19343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CE5DD64-0CD8-2124-4C43-DD1681B61F73}"/>
              </a:ext>
            </a:extLst>
          </p:cNvPr>
          <p:cNvSpPr txBox="1"/>
          <p:nvPr/>
        </p:nvSpPr>
        <p:spPr>
          <a:xfrm>
            <a:off x="8924544" y="6376626"/>
            <a:ext cx="339242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600" dirty="0">
                <a:hlinkClick r:id="rId4"/>
              </a:rPr>
              <a:t>https://www.ibm.com/support/pages/differences-between-step-over-step-and-step-out-commands</a:t>
            </a:r>
            <a:endParaRPr lang="en-TW" sz="600" dirty="0"/>
          </a:p>
        </p:txBody>
      </p:sp>
      <p:pic>
        <p:nvPicPr>
          <p:cNvPr id="23" name="Picture 22" descr="Screenshot that shows the Debug toolbar, with icons to control the flow of the debug session.">
            <a:extLst>
              <a:ext uri="{FF2B5EF4-FFF2-40B4-BE49-F238E27FC236}">
                <a16:creationId xmlns:a16="http://schemas.microsoft.com/office/drawing/2014/main" id="{B30654D5-FB61-065B-3DC5-73C1D8512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8304" y="182385"/>
            <a:ext cx="4230256" cy="62882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左側「執行與偵錯」面板：怎麼看變數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Locals（區域變數）與 Registers（暫存器）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8" name="Image 0" descr="/home/claude/work/assets/variable_values_garbled.png"/>
          <p:cNvPicPr>
            <a:picLocks noChangeAspect="1"/>
          </p:cNvPicPr>
          <p:nvPr/>
        </p:nvPicPr>
        <p:blipFill>
          <a:blip r:embed="rId3"/>
          <a:srcRect b="4308"/>
          <a:stretch>
            <a:fillRect/>
          </a:stretch>
        </p:blipFill>
        <p:spPr>
          <a:xfrm>
            <a:off x="457203" y="1373608"/>
            <a:ext cx="7406686" cy="3986783"/>
          </a:xfrm>
          <a:prstGeom prst="rect">
            <a:avLst/>
          </a:prstGeom>
        </p:spPr>
      </p:pic>
      <p:pic>
        <p:nvPicPr>
          <p:cNvPr id="9" name="Image 1" descr="/home/claude/work/assets/locals_breakpoints_pa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6809" y="1325880"/>
            <a:ext cx="3738880" cy="2103120"/>
          </a:xfrm>
          <a:prstGeom prst="rect">
            <a:avLst/>
          </a:prstGeom>
        </p:spPr>
      </p:pic>
      <p:pic>
        <p:nvPicPr>
          <p:cNvPr id="10" name="Image 2" descr="/home/claude/work/assets/registers_stepover.png"/>
          <p:cNvPicPr>
            <a:picLocks noChangeAspect="1"/>
          </p:cNvPicPr>
          <p:nvPr/>
        </p:nvPicPr>
        <p:blipFill>
          <a:blip r:embed="rId5"/>
          <a:srcRect r="68642" b="4575"/>
          <a:stretch>
            <a:fillRect/>
          </a:stretch>
        </p:blipFill>
        <p:spPr>
          <a:xfrm>
            <a:off x="8114980" y="1373607"/>
            <a:ext cx="2322563" cy="39756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5623560"/>
            <a:ext cx="1136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點左側活動列的「執行與偵錯」圖示，展開「變數」區塊，會看到 Locals（區域變數）與 Registers（暫存器）兩個子項目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依巢狀結構展開（如 GWK_BODY、CIFREJ3），數值剛變化時暫時以藍色底標示；Registers 顯示 GPR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等硬體暫存器內容，一般較少用到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DA6C1D-4D20-1D9C-096F-D66A49B97243}"/>
              </a:ext>
            </a:extLst>
          </p:cNvPr>
          <p:cNvSpPr/>
          <p:nvPr/>
        </p:nvSpPr>
        <p:spPr>
          <a:xfrm flipH="1">
            <a:off x="457200" y="1362457"/>
            <a:ext cx="2266526" cy="40107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FC7F0A-F993-B468-4847-97245B8ADECB}"/>
              </a:ext>
            </a:extLst>
          </p:cNvPr>
          <p:cNvSpPr/>
          <p:nvPr/>
        </p:nvSpPr>
        <p:spPr>
          <a:xfrm flipH="1">
            <a:off x="8114979" y="1704108"/>
            <a:ext cx="2322563" cy="17248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左側面板：新增監看（Watch）運算式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「變數」下方的「監看」區塊，自己指定要追蹤的欄位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8" name="Image 0" descr="/home/claude/work/assets/watch_panel.png"/>
          <p:cNvPicPr>
            <a:picLocks noChangeAspect="1"/>
          </p:cNvPicPr>
          <p:nvPr/>
        </p:nvPicPr>
        <p:blipFill>
          <a:blip r:embed="rId3"/>
          <a:srcRect t="-1" r="26643" b="31203"/>
          <a:stretch>
            <a:fillRect/>
          </a:stretch>
        </p:blipFill>
        <p:spPr>
          <a:xfrm>
            <a:off x="457198" y="3657692"/>
            <a:ext cx="5243345" cy="2766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0" y="12801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在「監看」區塊點「+」或直接按一下輸入框，輸入要追蹤的運算式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0" y="22402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可以是單一變數（GWK_LINE_CNT），也可以是巢狀欄位（CIFREJ3.POLICY_NO）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0" y="32004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監看清單會跟著程式執行即時更新，不用每次都到 Locals 裡層層展開去找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0" y="41605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滑鼠停在原始碼中斷點圖示上，也能直接看到目前設定的條件內容（如畫面右下角）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15200" y="516636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4" name="Text 11"/>
          <p:cNvSpPr/>
          <p:nvPr/>
        </p:nvSpPr>
        <p:spPr>
          <a:xfrm>
            <a:off x="7498080" y="52578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適合放進監看清單：GWK_LINE_CNT（換頁計數）、GWK_I（頁碼）、CIFREJ3.HANDLE_BRH_NO（局號）、CIFREJ3.POLICY_NO（保單號碼）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518393-759A-2C3B-C124-3C93AE606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857" r="68798" b="28967"/>
          <a:stretch>
            <a:fillRect/>
          </a:stretch>
        </p:blipFill>
        <p:spPr>
          <a:xfrm>
            <a:off x="457199" y="1124712"/>
            <a:ext cx="5243345" cy="237981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A6D3C58-9411-A27A-D0BC-F9884126F612}"/>
              </a:ext>
            </a:extLst>
          </p:cNvPr>
          <p:cNvSpPr/>
          <p:nvPr/>
        </p:nvSpPr>
        <p:spPr>
          <a:xfrm flipH="1">
            <a:off x="652630" y="5989320"/>
            <a:ext cx="2350546" cy="4344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FBD4A0-51E2-B7F3-E91B-1EB5EC09E5D0}"/>
              </a:ext>
            </a:extLst>
          </p:cNvPr>
          <p:cNvSpPr/>
          <p:nvPr/>
        </p:nvSpPr>
        <p:spPr>
          <a:xfrm flipH="1">
            <a:off x="874954" y="1154562"/>
            <a:ext cx="4816623" cy="5039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左下角「中斷點」清單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怎麼看圖示、怎麼處理灰色殘影中斷點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pic>
        <p:nvPicPr>
          <p:cNvPr id="8" name="Image 0" descr="/home/claude/work/assets/loop_breakpoints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5114" y="1263301"/>
            <a:ext cx="5532120" cy="311181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45720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TW" sz="3200"/>
          </a:p>
        </p:txBody>
      </p:sp>
      <p:sp>
        <p:nvSpPr>
          <p:cNvPr id="11" name="Text 7"/>
          <p:cNvSpPr/>
          <p:nvPr/>
        </p:nvSpPr>
        <p:spPr>
          <a:xfrm>
            <a:off x="457200" y="457200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正常清單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99632" y="45720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TW" sz="3200"/>
          </a:p>
        </p:txBody>
      </p:sp>
      <p:sp>
        <p:nvSpPr>
          <p:cNvPr id="13" name="Text 9"/>
          <p:cNvSpPr/>
          <p:nvPr/>
        </p:nvSpPr>
        <p:spPr>
          <a:xfrm>
            <a:off x="6199632" y="457200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殘影中斷點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498348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每個中斷點前面有核取方塊：勾選＝啟用、取消勾選＝暫時停用（不刪除設定，之後可以再勾回來）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圖示紅色實心圓＝一般中斷點、菱形／空心＝條件中斷點或記錄點；同一個檔名下如果出現兩組、行號重複，代表有上一輪 session 留下的殘影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殘影中斷點連不上新 session，續行時會被完全忽略；建議定期選取後按 Delete 清掉，保持清單乾淨、避免誤觸</a:t>
            </a:r>
            <a:endParaRPr lang="en-US" sz="13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56A7D0-3986-E46B-D333-0AA8C0595A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839"/>
          <a:stretch>
            <a:fillRect/>
          </a:stretch>
        </p:blipFill>
        <p:spPr>
          <a:xfrm>
            <a:off x="6188745" y="1263301"/>
            <a:ext cx="5717743" cy="3060587"/>
          </a:xfrm>
          <a:prstGeom prst="rect">
            <a:avLst/>
          </a:prstGeom>
        </p:spPr>
      </p:pic>
      <p:pic>
        <p:nvPicPr>
          <p:cNvPr id="18" name="Image 1" descr="/home/claude/work/assets/stale_breakpoints_ghost.png">
            <a:extLst>
              <a:ext uri="{FF2B5EF4-FFF2-40B4-BE49-F238E27FC236}">
                <a16:creationId xmlns:a16="http://schemas.microsoft.com/office/drawing/2014/main" id="{4396ECA3-F7FA-942D-1271-366CED2599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839"/>
          <a:stretch>
            <a:fillRect/>
          </a:stretch>
        </p:blipFill>
        <p:spPr>
          <a:xfrm>
            <a:off x="309153" y="1263301"/>
            <a:ext cx="5717743" cy="306058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已解決問題 ① — JVM 共享類別快取權限錯誤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JVMSHRC684E：全新 session 起不來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現象：EQAPROF STC 啟動時出現 JVMSHRC684E／Permission Denied，除錯服務的 JVM 起不來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根因：/tmp/javasharedresources 底下，先前某次異常中斷留下卡死的快取／號誌檔案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解法：刪除該 started task 帳號（如 STCBUG）名下卡住的 memory_sharedcc／semaphore_sharedcc 檔案，讓 JVM 重建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長期治本：可在 eqarmtd.env 加 OPENJ9_JAVA_OPTIONS="-Xshareclasses:none" 關閉共享快取</a:t>
            </a:r>
            <a:endParaRPr lang="en-US" sz="1600" dirty="0"/>
          </a:p>
        </p:txBody>
      </p:sp>
      <p:pic>
        <p:nvPicPr>
          <p:cNvPr id="9" name="Image 0" descr="/home/claude/work/assets/jvmshrc68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534602"/>
            <a:ext cx="4480560" cy="252031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53949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1" name="Text 8"/>
          <p:cNvSpPr/>
          <p:nvPr/>
        </p:nvSpPr>
        <p:spPr>
          <a:xfrm>
            <a:off x="502920" y="53949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已解決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已知限制 ② — 中斷點無法跨 Session 保留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EQARD1071W：missing debug module or part information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1109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現象：每次重新連線，舊 session 設定的中斷點／條件／記錄點都會失效，左下清單出現灰色殘影（見上一頁）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官方文件確認（z/OS Debugger User's Guide）：Save breakpoints／monitor specifications 檔案不適用於遠端除錯（remote debug）session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這是設計上的限制，不是操作錯誤 — 每次全新連線都要重新設定中斷點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建議做法：定期清掉灰色／空心的殘影中斷點，保持清單乾淨；示範特定行為時先取消勾選不相關的中斷點，減少被中途攔截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56692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7A1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502920" y="566928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已知限制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待解問題回顧 — 記錄點（Logpoint）無法印出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已嘗試的替代方案與目前狀態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1109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已嘗試的替代方案：直接在 Debug Console／Z/OS 主控台輸入 AT STATEMENT ... {LIST; GO;} 原生指令 → 皆不可行</a:t>
            </a:r>
            <a:endParaRPr lang="en-US" sz="1600" dirty="0"/>
          </a:p>
          <a:p>
            <a:pPr marL="0" lvl="1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－ Z/OS 主控台回覆：Not implemented yet for profile of type: rse</a:t>
            </a:r>
            <a:endParaRPr lang="en-US" sz="1600" dirty="0"/>
          </a:p>
          <a:p>
            <a:pPr marL="0" lvl="1" indent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－ Debug Console 輸入框僅供求值（expression evaluation），不接受除錯器指令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重現驗證：同一則「stopped due to statement 352」訊息連續折疊 15 次，證實每筆資料都被當一般中斷點攔下，記錄訊息從未印出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目前狀態：已回報給 IBM Support（Franka），附上 Table 3 官方文件出處、重現步驟與折疊次數證據，等待官方確認是否為已知限制或規劃中功能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62636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7A1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502920" y="62636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追蹤中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與 IBM Support 的溝通進度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三個問題，兩個已結案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429768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612648" y="1280160"/>
            <a:ext cx="4078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問題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280160"/>
            <a:ext cx="182880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4910328" y="128016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狀態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1280160"/>
            <a:ext cx="498348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6739128" y="1280160"/>
            <a:ext cx="4764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備註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1783080"/>
            <a:ext cx="4297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612648" y="1783080"/>
            <a:ext cx="4078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　記錄點／非停止式追蹤輸出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178308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4910328" y="178308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追蹤中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1783080"/>
            <a:ext cx="4983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Text 17"/>
          <p:cNvSpPr/>
          <p:nvPr/>
        </p:nvSpPr>
        <p:spPr>
          <a:xfrm>
            <a:off x="6739128" y="1783080"/>
            <a:ext cx="4764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已提供 Table 3 佐證與重現證據，等待官方替代方案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2560320"/>
            <a:ext cx="429768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612648" y="2560320"/>
            <a:ext cx="4078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　JVM 共享類別快取權限錯誤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560320"/>
            <a:ext cx="182880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Text 21"/>
          <p:cNvSpPr/>
          <p:nvPr/>
        </p:nvSpPr>
        <p:spPr>
          <a:xfrm>
            <a:off x="4910328" y="256032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已解決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2560320"/>
            <a:ext cx="498348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6739128" y="2560320"/>
            <a:ext cx="4764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刪除卡死的快取檔案；長期可用 -Xshareclasses:none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3337560"/>
            <a:ext cx="4297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 25"/>
          <p:cNvSpPr/>
          <p:nvPr/>
        </p:nvSpPr>
        <p:spPr>
          <a:xfrm>
            <a:off x="612648" y="3337560"/>
            <a:ext cx="4078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　CODEPAGE 中文顯示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333756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9" name="Text 27"/>
          <p:cNvSpPr/>
          <p:nvPr/>
        </p:nvSpPr>
        <p:spPr>
          <a:xfrm>
            <a:off x="4910328" y="333756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已解決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3337560"/>
            <a:ext cx="4983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 29"/>
          <p:cNvSpPr/>
          <p:nvPr/>
        </p:nvSpPr>
        <p:spPr>
          <a:xfrm>
            <a:off x="6739128" y="3337560"/>
            <a:ext cx="4764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EQAOPTS 模組正確組譯 ＋ STEPLIB 順序修正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" y="475488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等待 Support 針對記錄點（Logpoint）的官方回覆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516636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若確認為未支援功能，評估用「一般中斷點 + 手動檢視變數／監看運算式」作為長期教學替代方案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" y="557784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補齊測試資料涵蓋更多分支情境（換局號、多頁換頁）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⑥ Q&amp;A 整理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Q&amp;A 整理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過程中真正卡關又解開的問題（上）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為什麼 PARM= 傳的 TEST(...) 完全沒反應，換成 CEEOPTS DD 就成功？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591056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推測是這台 LPAR 的 Language Environment 安裝預設值把 EXECOPS 設為不可覆寫，擋掉了 PARM= 這條路徑，但沒有擋 CEEOPTS DD。用 RPTOPTS(ON) 產出的 LE 選項報告可以直接驗證「目前真正生效的選項來源」。（此為推測，尚待與 IBM Support 進一步確認根因）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為什麼中斷點設了、續行卻直接跑到底？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163824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兩種常見原因：①中斷點設在 DCL 宣告行（非可執行敘述，天生不能掛中斷點）；②沿用「上一輪」除錯階段作業的舊中斷點，換一次新連線就要重新建立，官方訊息 EQARD1071W 會提示「missing debug module or part information」。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435254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EQAPROF 每次啟動都跳一長串 JVM 共享快取權限警告（JVMSHRC684E）？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4736592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根因是 JVM 共享類別快取目錄（預設在 /tmp/javasharedresources）底下，殘留了先前異常中斷留下卡死的 memory_sharedcc／semaphore_sharedcc 檔案。解法：以啟動 EQAPROF 的 STC 使用者身分刪除這些卡住的檔案，再重啟 EQAPROF（/P EQAPROF、/S EQAPROF）。長期可在 eqarmtd.env 加 OPENJ9_JAVA_OPTIONS="-Xshareclasses:none" 關閉共享快取。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⑥ Q&amp;A 整理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Q&amp;A 整理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過程中真正卡關又解開的問題（下）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中文註解／中文欄位在除錯器裡顯示亂碼，怎麼修？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591056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預設碼頁是 037，程式若用 937（繁中）就會亂碼。修法：組譯一份 EQAOPTS load module（不是文字檔！）內含 EQAXOPT CODEPAGE,937，放進 STEPLIB 搜尋得到的路徑。純文字 PDS member 對這個指令無效。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記錄點訊息可以存到 z/OS 端的永久檔案嗎？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163824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官方文件明確寫：z/OS Debugger does not use log files in remote debug mode（遠端除錯模式下不使用日誌檔）。這是架構限制，不是設定沒做對，只能接受訊息僅存在於本次 Debug Console，無法持久化到永久檔案。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435254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Debug Profile 建立時用到的組譯 JCL 一直報 JCL ERROR？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4736592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範本假設的 PROC 步驟名稱是 C／L，但很多環境的 ASMACL PROC 實際步驟名稱是 ASM／LKED。記得把 //C.xxx、//L.xxx、PARM.C=、PARM.L= 全部一起改成對應名稱，否則會出現 IEFC611I OVERRIDDEN STEP NOT FOUND IN PROCEDURE。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謝謝聆聽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案例：IMS BTS 下的 PL/I 程式 GPV11V1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HAOKOH.#TEST.PLI(GPV11V1) 的除錯環境怎麼接上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1/6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291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程式與 JCL 對應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GPV11V1 — PL/I 業務程式（不改）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@COMP — 編譯：改 TEST 選項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@LINK / @LKSRC — 連結成 APPLP5U（不改）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P711V1 — 原 BTS JCL；複製成 P711V1D 作除錯版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呼叫鏈（由 Call Stack 還原）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CACPLIM → GP5GNI0 → C1000_CALL_FUNCTION_DISPATCH → GPOIIFD → P1000_PERFORM_TX_DISPATCH → GPV11V1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94960" cy="3291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與 TEST 範例的差別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入口是 CAP 框架的組合語言／LE 模組，不是 EXEC PGM=TEST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除錯 session 停在 CACPLIM（無除錯資料，顯示 .disassembly）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要走到 GPV11V1 才會開啟 DBTAT.FA.IDISYSDB(GPV11V1).pli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斷點只能設在 .pli 分頁，不能設在 .disassembly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754880"/>
            <a:ext cx="1115568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C97A1A"/>
                </a:solidFill>
                <a:latin typeface="Calibri"/>
              </a:rPr>
              <a:t>小提醒：  SYSDEBUG 寫到共用的 DBTAT.FA.IDISYSDB。若別人重編同名成員，行號會與實際載入的 load module 對不上；長期使用建議改成自己的資料集。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改哪裡 ①：@COMP 只改一個字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TEST(STMT…) 改成 TEST(ALL…)，其餘選項已符合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2/6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120640" cy="29260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修改前後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前：TEST(STMT,SYM,NOHOOK,SEPARATE)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後：TEST(ALL,SYM,NOHOOK,SEPARATE)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SYSDEBUG 已指向 DBTAT.FA.IDISYSDB(&amp;MEM)，不用動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改完順序：@COMP → @LINK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確認 DBTAT.FA.IDISYSDB(GPV11V1) 修改時間是剛剛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669280" cy="2926080"/>
          </a:xfrm>
          <a:prstGeom prst="rect">
            <a:avLst/>
          </a:prstGeom>
          <a:solidFill>
            <a:srgbClr val="0F1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//PLIPRM1  DD  *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M,NOWRITABLE,MAP,OF,AG,A,GN,S,NEST,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ATTRIBUTES(FULL),DECIMAL(NOFOFLONASGN),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LIST,STMT,XREF(FULL),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DFT(NONASGN,LINKAGE(SYSTEM)),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RULES(NOLAXDCL),NOBLKOFF,OFFSET,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OPTIONS,SOURCE,GONUMBER,NOPT,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AGGREGATE,NONUMBER,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TEST(ALL,SYM,NOHOOK,SEPARATE),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SYSPARM(TEST)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//SYSDEBUG DD DISP=SHR,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DSN=DBTAT.FA.IDISYSDB(&amp;MEM)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80560"/>
            <a:ext cx="11155680" cy="14630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C97A1A"/>
                </a:solidFill>
                <a:latin typeface="Calibri"/>
              </a:rPr>
              <a:t>小提醒：  @LINK 的 RC=8 來自 P5CSECT 分派表引用了未 INCLUDE 的其他交易模組，有 LET 仍會產生 load module，與除錯無關。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改哪裡 ②：複製 P711V1 成 P711V1D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在原 JCL 最後加入除錯用的 DD；BTSPS 的執行步驟名稱是 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3/6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6583680" cy="5029200"/>
          </a:xfrm>
          <a:prstGeom prst="rect">
            <a:avLst/>
          </a:prstGeom>
          <a:solidFill>
            <a:srgbClr val="0F1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//BTSSAMP1 EXEC BTSPS,USRLIB='HAOKOH.#TEST.LOAD',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 DIRCA=,REGION.G=256M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...（EDIT00 內容不動）...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//G.STEPLIB DD DISP=SHR,DSN=IMSAT.PGMLIB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DD DISP=SHR,DSN=HAOKOH.#TEST.LOAD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DD ...（照抄原本其餘 STEPLIB）...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DD DISP=SHR,DSN=IDZEE.DEBUG.SEQAMOD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//G.BTSOUT DD SYSOUT=X,DCB=(RECFM=FBA,LRECL=133,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 BLKSIZE=133)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//G.BTSIN  DD DSN=*.EDIT00.DSKOUTO,DISP=OLD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//G.CEEOPTS DD *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TEST(ALL,,PROMPT,RDS:*)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RPTOPTS(ON)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/*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//G.SYSOUT DD SYSOUT=X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//G.EQADEBUG DD DISP=SHR,DSN=DBTAT.FA.IDISYSDB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188720"/>
            <a:ext cx="4297680" cy="50292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重點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TEST 要用 ALL；ERROR 不會在進入點停下，斷點也不會生效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RDS:* 讓 Remote Debug Service 接手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RPTOPTS(ON) 搭配 G.SYSOUT，確認報表出現 DD:CEEOPTS TEST(ALL…)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EQADEBUG 是備援：找不到 SYSDEBUG 時依成員名 GPV11V1 搜尋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IDZEE.DEBUG.SEQAMOD 放在最後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操作流程與結果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送出 → attach → 走到 GPV11V1 → 設斷點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4/6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4206240" cy="51206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① 送出 P711V1D，等它成為 PARKED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② 執行 Demo 1 - attach，選 PARKED SHUYY CACPLIM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③ 停在 CACPLIM 第 1 行（右圖），反組譯畫面無法設斷點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④ 按 F5 / F11；遇到 IBM0191W ENDPAGE 停點再按一次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⑤ GPV11V1.pli 分頁開啟後，在 189、198 設斷點（實心紅點）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⑥ F5 命中，於 Locals 展開 INPUT_FI、ATN、ATT 看資料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不能用「重新啟動」鈕（EQARD1023E），要重跑必須重新送出 JCL 並重新 attach</a:t>
            </a:r>
          </a:p>
        </p:txBody>
      </p:sp>
      <p:pic>
        <p:nvPicPr>
          <p:cNvPr id="9" name="Picture 8" descr="螢幕擷取畫面_2026-10-01_1006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143000"/>
            <a:ext cx="6766560" cy="380619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937760" y="4967478"/>
            <a:ext cx="676656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C97A1A"/>
                </a:solidFill>
                <a:latin typeface="Calibri"/>
              </a:rPr>
              <a:t>CACPLIM.disassembly 第 1 行：此處不能設斷點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結果：斷點命中與變數檢視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198 行 CALL P3000_PERFORM_TX 之後，資料已填入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5/6</a:t>
            </a:r>
          </a:p>
        </p:txBody>
      </p:sp>
      <p:pic>
        <p:nvPicPr>
          <p:cNvPr id="8" name="Picture 7" descr="螢幕擷取畫面_2026-10-01_1037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5486400" cy="30861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4247388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C97A1A"/>
                </a:solidFill>
                <a:latin typeface="Calibri"/>
              </a:rPr>
              <a:t>198 行：INPUT_FI 卡號與日期正確</a:t>
            </a:r>
          </a:p>
        </p:txBody>
      </p:sp>
      <p:pic>
        <p:nvPicPr>
          <p:cNvPr id="10" name="Picture 9" descr="螢幕擷取畫面_2026-10-01_1036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143000"/>
            <a:ext cx="5486400" cy="30861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4247388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C97A1A"/>
                </a:solidFill>
                <a:latin typeface="Calibri"/>
              </a:rPr>
              <a:t>198 行：ATT 欄位值正常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54880"/>
            <a:ext cx="11155680" cy="15544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189 命中位置：IF TMTOAP.CVSTL_FST_FLG = '1' THEN；198：CALL P3000_PERFORM_TX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Watch 可加 FIPS_START_DATE、ATN.ATN_AUTH_DATE；離開作用域會顯示 EQA2328E，屬正常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建議第一批斷點只設在純 PL/I 敘述，#DBCALL、#UCALL 展開行與 DCL 行不要設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常見現象：ENDPAGE 例外與「亂碼」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兩者多半不是設定錯誤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6/6</a:t>
            </a:r>
          </a:p>
        </p:txBody>
      </p:sp>
      <p:pic>
        <p:nvPicPr>
          <p:cNvPr id="8" name="Picture 7" descr="螢幕擷取畫面_2026-10-01_1037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5486400" cy="30861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4247388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C97A1A"/>
                </a:solidFill>
                <a:latin typeface="Calibri"/>
              </a:rPr>
              <a:t>IBM0191W ENDPAGE，停在 GP5GNI0 / C0000_TRACEP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486400" cy="31089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ENDPAGE / FINISH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來自 PL/I 條件，不是程式錯誤，按 F5 放行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出現在 GPV11V1 結束後的 C0000_TRACEP（框架印 trace 時，推測）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手冊：test_level 控制哪些條件讓除錯器介入；是否可過濾尚未驗證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389120"/>
            <a:ext cx="5486400" cy="19202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C97A1A"/>
                </a:solidFill>
                <a:latin typeface="Calibri"/>
              </a:rPr>
              <a:t>變數亂碼先分辨三種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C97A1A"/>
                </a:solidFill>
                <a:latin typeface="Calibri"/>
              </a:rPr>
              <a:t>① 尚未賦值的指標區（189 行）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C97A1A"/>
                </a:solidFill>
                <a:latin typeface="Calibri"/>
              </a:rPr>
              <a:t>② CHAR(450) 內含 packed／binary，如 ATT_RECORD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C97A1A"/>
                </a:solidFill>
                <a:latin typeface="Calibri"/>
              </a:rPr>
              <a:t>③ 真正的中文碼頁問題：GPV11V1 沒有中文欄位，需用有中文資料的程式驗證；對照 V3：EQAOPTS(CODEPAGE 937) 要放在 STEPLIB 較前面的資料集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4008</TotalTime>
  <Words>8851</Words>
  <Application>Microsoft Macintosh PowerPoint</Application>
  <PresentationFormat>Widescreen</PresentationFormat>
  <Paragraphs>800</Paragraphs>
  <Slides>42</Slides>
  <Notes>34</Notes>
  <HiddenSlides>8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</vt:lpstr>
      <vt:lpstr>Arial</vt:lpstr>
      <vt:lpstr>Calibri</vt:lpstr>
      <vt:lpstr>Cambria</vt:lpstr>
      <vt:lpstr>Consolas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 Ching Chung</cp:lastModifiedBy>
  <cp:revision>83</cp:revision>
  <dcterms:created xsi:type="dcterms:W3CDTF">2026-09-16T08:15:54Z</dcterms:created>
  <dcterms:modified xsi:type="dcterms:W3CDTF">2026-09-23T01:29:07Z</dcterms:modified>
</cp:coreProperties>
</file>